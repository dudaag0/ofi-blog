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2" r:id="rId3"/>
    <p:sldId id="257" r:id="rId4"/>
    <p:sldId id="294" r:id="rId5"/>
    <p:sldId id="295" r:id="rId6"/>
    <p:sldId id="296" r:id="rId7"/>
    <p:sldId id="297" r:id="rId8"/>
    <p:sldId id="260" r:id="rId9"/>
    <p:sldId id="305" r:id="rId10"/>
    <p:sldId id="272" r:id="rId11"/>
    <p:sldId id="278" r:id="rId12"/>
    <p:sldId id="261" r:id="rId13"/>
    <p:sldId id="262" r:id="rId14"/>
    <p:sldId id="263" r:id="rId15"/>
    <p:sldId id="264" r:id="rId16"/>
    <p:sldId id="314" r:id="rId17"/>
    <p:sldId id="279" r:id="rId18"/>
    <p:sldId id="281" r:id="rId19"/>
    <p:sldId id="280" r:id="rId20"/>
    <p:sldId id="265" r:id="rId21"/>
    <p:sldId id="31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F540ADA-1537-4756-AEFC-BBDBFA061C73}">
          <p14:sldIdLst>
            <p14:sldId id="256"/>
            <p14:sldId id="302"/>
          </p14:sldIdLst>
        </p14:section>
        <p14:section name="Schichtenmodell" id="{F1B5B771-B221-45A5-9E9D-371AE77D638C}">
          <p14:sldIdLst>
            <p14:sldId id="257"/>
            <p14:sldId id="294"/>
            <p14:sldId id="295"/>
            <p14:sldId id="296"/>
            <p14:sldId id="297"/>
            <p14:sldId id="260"/>
            <p14:sldId id="305"/>
            <p14:sldId id="272"/>
            <p14:sldId id="278"/>
          </p14:sldIdLst>
        </p14:section>
        <p14:section name="IP-Adresse" id="{EE8EB702-096F-486D-952F-874EFEA6EE86}">
          <p14:sldIdLst>
            <p14:sldId id="261"/>
            <p14:sldId id="262"/>
            <p14:sldId id="263"/>
            <p14:sldId id="264"/>
            <p14:sldId id="314"/>
            <p14:sldId id="279"/>
            <p14:sldId id="281"/>
            <p14:sldId id="280"/>
            <p14:sldId id="26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pen Thomas" userId="02398622-fe37-4bae-8b2a-52ece660ce65" providerId="ADAL" clId="{9FC4139A-8A37-4B45-9010-B4138483D63D}"/>
    <pc:docChg chg="modSld">
      <pc:chgData name="Jampen Thomas" userId="02398622-fe37-4bae-8b2a-52ece660ce65" providerId="ADAL" clId="{9FC4139A-8A37-4B45-9010-B4138483D63D}" dt="2023-08-17T11:22:33.023" v="13" actId="20577"/>
      <pc:docMkLst>
        <pc:docMk/>
      </pc:docMkLst>
      <pc:sldChg chg="modSp">
        <pc:chgData name="Jampen Thomas" userId="02398622-fe37-4bae-8b2a-52ece660ce65" providerId="ADAL" clId="{9FC4139A-8A37-4B45-9010-B4138483D63D}" dt="2023-08-17T11:22:33.023" v="13" actId="20577"/>
        <pc:sldMkLst>
          <pc:docMk/>
          <pc:sldMk cId="4221611529" sldId="279"/>
        </pc:sldMkLst>
        <pc:spChg chg="mod">
          <ac:chgData name="Jampen Thomas" userId="02398622-fe37-4bae-8b2a-52ece660ce65" providerId="ADAL" clId="{9FC4139A-8A37-4B45-9010-B4138483D63D}" dt="2023-08-17T11:22:33.023" v="13" actId="20577"/>
          <ac:spMkLst>
            <pc:docMk/>
            <pc:sldMk cId="4221611529" sldId="279"/>
            <ac:spMk id="5" creationId="{56EFBEDF-EB7C-46D9-A6B6-0DFDE947A2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67DE8-7619-42D8-ADC0-95799666664C}" type="datetimeFigureOut">
              <a:rPr lang="de-CH" smtClean="0"/>
              <a:t>20.08.2024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6B0D-5145-4432-92A2-4A03891C8E6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874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Wer hat zu Hause ein Netzwerk?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Wie kommunizieren Computer miteinander?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Was ist ein Netzwerk?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/>
              <a:t>Was ist das Internet?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6317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Pult: https://publicdomainvectors.org/en/free-clipart/School-desk-and-chair/84190.html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41667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Kids: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/Happy-school-kids/80771.html</a:t>
            </a:r>
          </a:p>
          <a:p>
            <a:r>
              <a:rPr lang="de-CH"/>
              <a:t>Kids: https://</a:t>
            </a:r>
            <a:r>
              <a:rPr lang="de-CH" err="1"/>
              <a:t>openclipart.org</a:t>
            </a:r>
            <a:r>
              <a:rPr lang="de-CH"/>
              <a:t>/</a:t>
            </a:r>
            <a:r>
              <a:rPr lang="de-CH" err="1"/>
              <a:t>detail</a:t>
            </a:r>
            <a:r>
              <a:rPr lang="de-CH"/>
              <a:t>/306204/back-</a:t>
            </a:r>
            <a:r>
              <a:rPr lang="de-CH" err="1"/>
              <a:t>to</a:t>
            </a:r>
            <a:r>
              <a:rPr lang="de-CH"/>
              <a:t>-school-</a:t>
            </a:r>
            <a:r>
              <a:rPr lang="de-CH" err="1"/>
              <a:t>clear</a:t>
            </a:r>
            <a:endParaRPr lang="de-CH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Hauswart: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</a:t>
            </a:r>
            <a:r>
              <a:rPr lang="de-CH" err="1"/>
              <a:t>Vector</a:t>
            </a:r>
            <a:r>
              <a:rPr lang="de-CH"/>
              <a:t>-clip-art-</a:t>
            </a:r>
            <a:r>
              <a:rPr lang="de-CH" err="1"/>
              <a:t>of</a:t>
            </a:r>
            <a:r>
              <a:rPr lang="de-CH"/>
              <a:t>-</a:t>
            </a:r>
            <a:r>
              <a:rPr lang="de-CH" err="1"/>
              <a:t>mechanic</a:t>
            </a:r>
            <a:r>
              <a:rPr lang="de-CH"/>
              <a:t>-</a:t>
            </a:r>
            <a:r>
              <a:rPr lang="de-CH" err="1"/>
              <a:t>with</a:t>
            </a:r>
            <a:r>
              <a:rPr lang="de-CH"/>
              <a:t>-a-</a:t>
            </a:r>
            <a:r>
              <a:rPr lang="de-CH" err="1"/>
              <a:t>red</a:t>
            </a:r>
            <a:r>
              <a:rPr lang="de-CH"/>
              <a:t>-</a:t>
            </a:r>
            <a:r>
              <a:rPr lang="de-CH" err="1"/>
              <a:t>cap</a:t>
            </a:r>
            <a:r>
              <a:rPr lang="de-CH"/>
              <a:t>/29001.html</a:t>
            </a:r>
          </a:p>
          <a:p>
            <a:r>
              <a:rPr lang="de-CH"/>
              <a:t>Paket: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</a:t>
            </a:r>
            <a:r>
              <a:rPr lang="de-CH" err="1"/>
              <a:t>Vector-graphics-of-wrapped-and-bandaged-parcel</a:t>
            </a:r>
            <a:r>
              <a:rPr lang="de-CH"/>
              <a:t>/20974.html</a:t>
            </a:r>
          </a:p>
          <a:p>
            <a:r>
              <a:rPr lang="de-CH"/>
              <a:t>Brief: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/White-letter/59858.html</a:t>
            </a:r>
          </a:p>
          <a:p>
            <a:r>
              <a:rPr lang="de-CH"/>
              <a:t>Sack: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/Simple-</a:t>
            </a:r>
            <a:r>
              <a:rPr lang="de-CH" err="1"/>
              <a:t>bag</a:t>
            </a:r>
            <a:r>
              <a:rPr lang="de-CH"/>
              <a:t>/40864.html</a:t>
            </a:r>
          </a:p>
          <a:p>
            <a:r>
              <a:rPr lang="de-CH"/>
              <a:t>Lastwagen: https://</a:t>
            </a:r>
            <a:r>
              <a:rPr lang="de-CH" err="1"/>
              <a:t>publicdomainvectors.org</a:t>
            </a:r>
            <a:r>
              <a:rPr lang="de-CH"/>
              <a:t>/en/</a:t>
            </a:r>
            <a:r>
              <a:rPr lang="de-CH" err="1"/>
              <a:t>free-clipart</a:t>
            </a:r>
            <a:r>
              <a:rPr lang="de-CH"/>
              <a:t>/</a:t>
            </a:r>
            <a:r>
              <a:rPr lang="de-CH" err="1"/>
              <a:t>Opened</a:t>
            </a:r>
            <a:r>
              <a:rPr lang="de-CH"/>
              <a:t>-</a:t>
            </a:r>
            <a:r>
              <a:rPr lang="de-CH" err="1"/>
              <a:t>relocation</a:t>
            </a:r>
            <a:r>
              <a:rPr lang="de-CH"/>
              <a:t>-truck-</a:t>
            </a:r>
            <a:r>
              <a:rPr lang="de-CH" err="1"/>
              <a:t>vector</a:t>
            </a:r>
            <a:r>
              <a:rPr lang="de-CH"/>
              <a:t>-clip-art/18726.html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8513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Kids: https://publicdomainvectors.org/en/free-clipart/Happy-school-kids/80771.html</a:t>
            </a:r>
          </a:p>
          <a:p>
            <a:r>
              <a:rPr lang="de-CH"/>
              <a:t>Kids: https://openclipart.org/detail/306204/back-to-school-clear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Hauswart: https://publicdomainvectors.org/en/free-clipart/Vector-clip-art-of-mechanic-with-a-red-cap/29001.html</a:t>
            </a:r>
          </a:p>
          <a:p>
            <a:r>
              <a:rPr lang="de-CH"/>
              <a:t>Paket: https://publicdomainvectors.org/en/free-clipart/Vector-graphics-of-wrapped-and-bandaged-parcel/20974.html</a:t>
            </a:r>
          </a:p>
          <a:p>
            <a:r>
              <a:rPr lang="de-CH"/>
              <a:t>Brief: https://publicdomainvectors.org/en/free-clipart/White-letter/59858.html</a:t>
            </a:r>
          </a:p>
          <a:p>
            <a:r>
              <a:rPr lang="de-CH"/>
              <a:t>Sack: https://publicdomainvectors.org/en/free-clipart/Simple-bag/40864.html</a:t>
            </a:r>
          </a:p>
          <a:p>
            <a:r>
              <a:rPr lang="de-CH"/>
              <a:t>Lastwagen: https://publicdomainvectors.org/en/free-clipart/Opened-relocation-truck-vector-clip-art/18726.html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6083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Kids: https://publicdomainvectors.org/en/free-clipart/Happy-school-kids/80771.html</a:t>
            </a:r>
          </a:p>
          <a:p>
            <a:r>
              <a:rPr lang="de-CH"/>
              <a:t>Kids: https://openclipart.org/detail/306204/back-to-school-clear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Hauswart: https://publicdomainvectors.org/en/free-clipart/Vector-clip-art-of-mechanic-with-a-red-cap/29001.html</a:t>
            </a:r>
          </a:p>
          <a:p>
            <a:r>
              <a:rPr lang="de-CH"/>
              <a:t>Paket: https://publicdomainvectors.org/en/free-clipart/Vector-graphics-of-wrapped-and-bandaged-parcel/20974.html</a:t>
            </a:r>
          </a:p>
          <a:p>
            <a:r>
              <a:rPr lang="de-CH"/>
              <a:t>Brief: https://publicdomainvectors.org/en/free-clipart/White-letter/59858.html</a:t>
            </a:r>
          </a:p>
          <a:p>
            <a:r>
              <a:rPr lang="de-CH"/>
              <a:t>Sack: https://publicdomainvectors.org/en/free-clipart/Simple-bag/40864.html</a:t>
            </a:r>
          </a:p>
          <a:p>
            <a:r>
              <a:rPr lang="de-CH"/>
              <a:t>Lastwagen: https://publicdomainvectors.org/en/free-clipart/Opened-relocation-truck-vector-clip-art/18726.html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264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Kids: https://publicdomainvectors.org/en/free-clipart/Happy-school-kids/80771.html</a:t>
            </a:r>
          </a:p>
          <a:p>
            <a:r>
              <a:rPr lang="de-CH"/>
              <a:t>Kids: https://openclipart.org/detail/306204/back-to-school-clear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/>
              <a:t>Hauswart: https://publicdomainvectors.org/en/free-clipart/Vector-clip-art-of-mechanic-with-a-red-cap/29001.html</a:t>
            </a:r>
          </a:p>
          <a:p>
            <a:r>
              <a:rPr lang="de-CH"/>
              <a:t>Paket: https://publicdomainvectors.org/en/free-clipart/Vector-graphics-of-wrapped-and-bandaged-parcel/20974.html</a:t>
            </a:r>
          </a:p>
          <a:p>
            <a:r>
              <a:rPr lang="de-CH"/>
              <a:t>Brief: https://publicdomainvectors.org/en/free-clipart/White-letter/59858.html</a:t>
            </a:r>
          </a:p>
          <a:p>
            <a:r>
              <a:rPr lang="de-CH"/>
              <a:t>Sack: https://publicdomainvectors.org/en/free-clipart/Simple-bag/40864.html</a:t>
            </a:r>
          </a:p>
          <a:p>
            <a:r>
              <a:rPr lang="de-CH"/>
              <a:t>Lastwagen: https://publicdomainvectors.org/en/free-clipart/Opened-relocation-truck-vector-clip-art/18726.html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73303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Bild: https://oinf.ch/konzept/schichtenmodell/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65523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Maus: https://publicdomainvectors.org/en/free-clipart/Mouse-arrow-pointer-with-shadow-vector-image/13234.html</a:t>
            </a:r>
          </a:p>
          <a:p>
            <a:endParaRPr lang="de-CH"/>
          </a:p>
          <a:p>
            <a:r>
              <a:rPr lang="de-CH"/>
              <a:t>Windows:</a:t>
            </a:r>
          </a:p>
          <a:p>
            <a:r>
              <a:rPr lang="de-CH"/>
              <a:t>https://support.microsoft.com/de-de/help/4027030/windows-10-connect-to-a-wi-fi-network</a:t>
            </a:r>
          </a:p>
          <a:p>
            <a:r>
              <a:rPr lang="de-CH"/>
              <a:t>https://support.microsoft.com/en-us/help/4026518/windows-10-find-your-ip-address</a:t>
            </a:r>
          </a:p>
          <a:p>
            <a:endParaRPr lang="de-CH"/>
          </a:p>
          <a:p>
            <a:r>
              <a:rPr lang="de-CH"/>
              <a:t>Mac:</a:t>
            </a:r>
          </a:p>
          <a:p>
            <a:r>
              <a:rPr lang="de-CH"/>
              <a:t>https://osxdaily.com/2010/11/21/find-ip-address-mac/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4253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37806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URL: https://www.youtube.com/watch?v=Ft0f_i3kp0E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223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IP-Adressen: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82.197.176.117</a:t>
            </a:r>
            <a:r>
              <a:rPr lang="de-CH" dirty="0"/>
              <a:t>: </a:t>
            </a:r>
            <a:r>
              <a:rPr lang="de-CH" dirty="0" err="1"/>
              <a:t>www.gymkirchenfeld.ch</a:t>
            </a:r>
            <a:endParaRPr lang="de-C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8.8.8.8: Google DNS-Server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185.237.144.226: langsamer Host von http://</a:t>
            </a:r>
            <a:r>
              <a:rPr lang="de-CH" dirty="0" err="1"/>
              <a:t>internetsupervision.com</a:t>
            </a:r>
            <a:r>
              <a:rPr lang="de-CH" dirty="0"/>
              <a:t>/</a:t>
            </a:r>
            <a:r>
              <a:rPr lang="de-CH" dirty="0" err="1"/>
              <a:t>scripts</a:t>
            </a:r>
            <a:r>
              <a:rPr lang="de-CH" dirty="0"/>
              <a:t>/</a:t>
            </a:r>
            <a:r>
              <a:rPr lang="de-CH" dirty="0" err="1"/>
              <a:t>urlcheck</a:t>
            </a:r>
            <a:r>
              <a:rPr lang="de-CH" dirty="0"/>
              <a:t>/</a:t>
            </a:r>
            <a:r>
              <a:rPr lang="de-CH" dirty="0" err="1"/>
              <a:t>report.aspx?reportid</a:t>
            </a:r>
            <a:r>
              <a:rPr lang="de-CH" dirty="0"/>
              <a:t>=</a:t>
            </a:r>
            <a:r>
              <a:rPr lang="de-CH" dirty="0" err="1"/>
              <a:t>slowest</a:t>
            </a:r>
            <a:endParaRPr lang="de-CH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194.150.245.142: </a:t>
            </a:r>
            <a:r>
              <a:rPr lang="de-CH" dirty="0" err="1"/>
              <a:t>sbb.ch</a:t>
            </a:r>
            <a:r>
              <a:rPr lang="de-CH" dirty="0"/>
              <a:t> (nicht </a:t>
            </a:r>
            <a:r>
              <a:rPr lang="de-CH" dirty="0" err="1"/>
              <a:t>pingbar</a:t>
            </a:r>
            <a:r>
              <a:rPr lang="de-CH" dirty="0"/>
              <a:t>, Firewall)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CH" dirty="0"/>
              <a:t>123.194.387.14: ungültige IP-Adresse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56503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8862B-F95B-4002-9EC3-24C5F774C47C}" type="slidenum">
              <a:rPr lang="de-CH" smtClean="0"/>
              <a:t>20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9701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198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0092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2450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128426" y="1825625"/>
            <a:ext cx="5225374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233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39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2D25B1-CC8C-4BA7-BD63-D1F34AE6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10F3-641C-445E-8A76-482B494B7682}" type="datetimeFigureOut">
              <a:rPr lang="de-CH" smtClean="0"/>
              <a:t>20.08.2024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4781F8-334D-405C-B9AE-8A9322FA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FC0E67-7FD6-4C3C-B2B2-4B208C4F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77E4B-A32C-4B5D-B765-05F5214636D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81798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5C049-B277-4461-806C-8ECAD290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67556E-B9B6-413E-A581-3D6A4AF6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825625"/>
            <a:ext cx="49339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F22032-CE90-4921-9ADC-6A432A30D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89382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CED4EF-4CC7-4622-9528-2508A5084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10F3-641C-445E-8A76-482B494B7682}" type="datetimeFigureOut">
              <a:rPr lang="de-CH" smtClean="0"/>
              <a:t>20.08.2024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23113A-D347-4354-B8AF-B650D7F8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066AE8-5B41-48B3-A33B-77897C2B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77E4B-A32C-4B5D-B765-05F5214636D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583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63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678" y="209783"/>
            <a:ext cx="264572" cy="27947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72284" y="6793201"/>
            <a:ext cx="779929" cy="6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Rectangle 9"/>
          <p:cNvSpPr/>
          <p:nvPr/>
        </p:nvSpPr>
        <p:spPr>
          <a:xfrm>
            <a:off x="9852213" y="6793200"/>
            <a:ext cx="779929" cy="6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tangle 10"/>
          <p:cNvSpPr/>
          <p:nvPr/>
        </p:nvSpPr>
        <p:spPr>
          <a:xfrm>
            <a:off x="10632142" y="6793200"/>
            <a:ext cx="779929" cy="6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tangle 11"/>
          <p:cNvSpPr/>
          <p:nvPr/>
        </p:nvSpPr>
        <p:spPr>
          <a:xfrm>
            <a:off x="11412071" y="6793200"/>
            <a:ext cx="779929" cy="6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440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</p:titleStyle>
    <p:bodyStyle>
      <a:lvl1pPr marL="360363" indent="-360363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1pPr>
      <a:lvl2pPr marL="808038" indent="-3508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2pPr>
      <a:lvl3pPr marL="1254125" indent="-3397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75000"/>
            <a:lumOff val="25000"/>
          </a:schemeClr>
        </a:buClr>
        <a:buFont typeface="Arial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mo" charset="0"/>
          <a:ea typeface="Arimo" charset="0"/>
          <a:cs typeface="Arim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10.jpe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YFXdDppLw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smyip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257D86-AD51-41B5-B104-930114CA7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Schichtenmodell und</a:t>
            </a:r>
            <a:br>
              <a:rPr lang="de-DE" dirty="0"/>
            </a:br>
            <a:r>
              <a:rPr lang="de-DE" dirty="0"/>
              <a:t>IP-Adressen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2141A2-6F4F-478C-AF6E-ED2D9AE23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Gymnasium Kirchenfeld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47518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9BCBB-50F6-46B2-94FE-39F36745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Rechnernetze – Wie kommunizieren Geräte?</a:t>
            </a:r>
          </a:p>
        </p:txBody>
      </p:sp>
      <p:pic>
        <p:nvPicPr>
          <p:cNvPr id="24" name="Grafik 23" descr="Ein Bild, das Elektronik, Computer, schließen, haltend enthält.&#10;&#10;Automatisch generierte Beschreibung">
            <a:extLst>
              <a:ext uri="{FF2B5EF4-FFF2-40B4-BE49-F238E27FC236}">
                <a16:creationId xmlns:a16="http://schemas.microsoft.com/office/drawing/2014/main" id="{30384F5D-26FB-4008-98A1-12AA77069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49" y="3264319"/>
            <a:ext cx="2381250" cy="433388"/>
          </a:xfrm>
          <a:prstGeom prst="rect">
            <a:avLst/>
          </a:prstGeom>
        </p:spPr>
      </p:pic>
      <p:pic>
        <p:nvPicPr>
          <p:cNvPr id="25" name="Grafik 24" descr="Ein Bild, das Elektronik, Computer, sitzend, Tisch enthält.&#10;&#10;Automatisch generierte Beschreibung">
            <a:extLst>
              <a:ext uri="{FF2B5EF4-FFF2-40B4-BE49-F238E27FC236}">
                <a16:creationId xmlns:a16="http://schemas.microsoft.com/office/drawing/2014/main" id="{8D246B8A-7735-4618-B1DC-24C6754F0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425" y="3033941"/>
            <a:ext cx="1487488" cy="1487488"/>
          </a:xfrm>
          <a:prstGeom prst="rect">
            <a:avLst/>
          </a:prstGeom>
        </p:spPr>
      </p:pic>
      <p:pic>
        <p:nvPicPr>
          <p:cNvPr id="26" name="Grafik 25" descr="Ein Bild, das Elektronik, Computer, drinnen, Tisch enthält.&#10;&#10;Automatisch generierte Beschreibung">
            <a:extLst>
              <a:ext uri="{FF2B5EF4-FFF2-40B4-BE49-F238E27FC236}">
                <a16:creationId xmlns:a16="http://schemas.microsoft.com/office/drawing/2014/main" id="{6F8E63B2-2458-4CD9-A489-AFC7BA2DA0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3363" y="4932096"/>
            <a:ext cx="1523809" cy="1523809"/>
          </a:xfrm>
          <a:prstGeom prst="rect">
            <a:avLst/>
          </a:prstGeom>
        </p:spPr>
      </p:pic>
      <p:pic>
        <p:nvPicPr>
          <p:cNvPr id="27" name="Grafik 26" descr="Ein Bild, das Elektronik, Computer, drinnen, Tisch enthält.&#10;&#10;Automatisch generierte Beschreibung">
            <a:extLst>
              <a:ext uri="{FF2B5EF4-FFF2-40B4-BE49-F238E27FC236}">
                <a16:creationId xmlns:a16="http://schemas.microsoft.com/office/drawing/2014/main" id="{C49EB509-0D42-4D97-B49E-159BF492C7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701" y="4932096"/>
            <a:ext cx="1523809" cy="1523809"/>
          </a:xfrm>
          <a:prstGeom prst="rect">
            <a:avLst/>
          </a:prstGeom>
        </p:spPr>
      </p:pic>
      <p:pic>
        <p:nvPicPr>
          <p:cNvPr id="28" name="Grafik 27" descr="Ein Bild, das Elektronik, Computer, schließen, haltend enthält.&#10;&#10;Automatisch generierte Beschreibung">
            <a:extLst>
              <a:ext uri="{FF2B5EF4-FFF2-40B4-BE49-F238E27FC236}">
                <a16:creationId xmlns:a16="http://schemas.microsoft.com/office/drawing/2014/main" id="{4E0BBEB4-68C3-41F5-9175-91D725945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08" y="4037241"/>
            <a:ext cx="2381250" cy="433388"/>
          </a:xfrm>
          <a:prstGeom prst="rect">
            <a:avLst/>
          </a:prstGeom>
        </p:spPr>
      </p:pic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8E71DF1-27A7-4CF9-8C70-C07A38DFFA05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836058" y="4037241"/>
            <a:ext cx="1661788" cy="216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Grafik 29" descr="Ein Bild, das Uhr enthält.&#10;&#10;Automatisch generierte Beschreibung">
            <a:extLst>
              <a:ext uri="{FF2B5EF4-FFF2-40B4-BE49-F238E27FC236}">
                <a16:creationId xmlns:a16="http://schemas.microsoft.com/office/drawing/2014/main" id="{C59DDD91-271D-4DE6-8A4E-8B8E610AE4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846" y="2513738"/>
            <a:ext cx="2666407" cy="2666407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1E1FA5AB-989A-480D-BABA-486A38CDDC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953" y="4855592"/>
            <a:ext cx="1893485" cy="1893485"/>
          </a:xfrm>
          <a:prstGeom prst="rect">
            <a:avLst/>
          </a:prstGeom>
        </p:spPr>
      </p:pic>
      <p:pic>
        <p:nvPicPr>
          <p:cNvPr id="32" name="Grafik 31" descr="Ein Bild, das Tisch enthält.&#10;&#10;Automatisch generierte Beschreibung">
            <a:extLst>
              <a:ext uri="{FF2B5EF4-FFF2-40B4-BE49-F238E27FC236}">
                <a16:creationId xmlns:a16="http://schemas.microsoft.com/office/drawing/2014/main" id="{0A4B9376-F07E-4E6C-B6DE-AD46767C22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224" y="3418449"/>
            <a:ext cx="1092912" cy="804383"/>
          </a:xfrm>
          <a:prstGeom prst="rect">
            <a:avLst/>
          </a:prstGeom>
        </p:spPr>
      </p:pic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60F5AB7-ACF6-425B-B545-F655BAA55731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844799" y="3481013"/>
            <a:ext cx="1639879" cy="2251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D43D360-BF68-48AC-8489-020A6E244D70}"/>
              </a:ext>
            </a:extLst>
          </p:cNvPr>
          <p:cNvCxnSpPr>
            <a:cxnSpLocks/>
          </p:cNvCxnSpPr>
          <p:nvPr/>
        </p:nvCxnSpPr>
        <p:spPr>
          <a:xfrm flipV="1">
            <a:off x="5030739" y="4253935"/>
            <a:ext cx="98149" cy="975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5B0EAAD-2406-41FB-BBCA-1530486868D5}"/>
              </a:ext>
            </a:extLst>
          </p:cNvPr>
          <p:cNvCxnSpPr>
            <a:cxnSpLocks/>
          </p:cNvCxnSpPr>
          <p:nvPr/>
        </p:nvCxnSpPr>
        <p:spPr>
          <a:xfrm flipH="1" flipV="1">
            <a:off x="6238350" y="4253935"/>
            <a:ext cx="2142967" cy="9757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F10B31C-5B17-440E-88C4-8DE47F66BADD}"/>
              </a:ext>
            </a:extLst>
          </p:cNvPr>
          <p:cNvCxnSpPr>
            <a:cxnSpLocks/>
          </p:cNvCxnSpPr>
          <p:nvPr/>
        </p:nvCxnSpPr>
        <p:spPr>
          <a:xfrm flipH="1" flipV="1">
            <a:off x="6963945" y="4253936"/>
            <a:ext cx="3220548" cy="9757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600CED5-6EA2-4427-A67A-E713F23314D7}"/>
              </a:ext>
            </a:extLst>
          </p:cNvPr>
          <p:cNvCxnSpPr>
            <a:cxnSpLocks/>
          </p:cNvCxnSpPr>
          <p:nvPr/>
        </p:nvCxnSpPr>
        <p:spPr>
          <a:xfrm flipH="1">
            <a:off x="7164254" y="4088041"/>
            <a:ext cx="857970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Grafik 37">
            <a:extLst>
              <a:ext uri="{FF2B5EF4-FFF2-40B4-BE49-F238E27FC236}">
                <a16:creationId xmlns:a16="http://schemas.microsoft.com/office/drawing/2014/main" id="{3E0B45AA-109D-46E6-9DEF-686DC2FD14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32841" y="3305022"/>
            <a:ext cx="394792" cy="311886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D0C2C366-5BDD-4A0E-A610-7E5A44137A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957054" y="3313306"/>
            <a:ext cx="394792" cy="311886"/>
          </a:xfrm>
          <a:prstGeom prst="rect">
            <a:avLst/>
          </a:prstGeom>
        </p:spPr>
      </p:pic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C9AC439F-3085-4EC7-B6F3-ADB5CD13C56A}"/>
              </a:ext>
            </a:extLst>
          </p:cNvPr>
          <p:cNvCxnSpPr>
            <a:cxnSpLocks/>
          </p:cNvCxnSpPr>
          <p:nvPr/>
        </p:nvCxnSpPr>
        <p:spPr>
          <a:xfrm flipH="1">
            <a:off x="9096778" y="3460965"/>
            <a:ext cx="857970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6" name="Grafik 45" descr="Ein Bild, das Raum, Ball, Tisch enthält.&#10;&#10;Automatisch generierte Beschreibung">
            <a:extLst>
              <a:ext uri="{FF2B5EF4-FFF2-40B4-BE49-F238E27FC236}">
                <a16:creationId xmlns:a16="http://schemas.microsoft.com/office/drawing/2014/main" id="{72182FB6-E094-4BC3-B725-E31E96F4E8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483" y="1673897"/>
            <a:ext cx="1571663" cy="158115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18235B83-7D06-4D55-9CEB-297401B36A76}"/>
              </a:ext>
            </a:extLst>
          </p:cNvPr>
          <p:cNvCxnSpPr>
            <a:cxnSpLocks/>
          </p:cNvCxnSpPr>
          <p:nvPr/>
        </p:nvCxnSpPr>
        <p:spPr>
          <a:xfrm flipH="1">
            <a:off x="5311321" y="2705979"/>
            <a:ext cx="1143525" cy="7230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7B508B95-B950-4BF3-87B6-F4C74D43E3C6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7444477" y="1990229"/>
            <a:ext cx="1046530" cy="240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Wolke 49">
            <a:extLst>
              <a:ext uri="{FF2B5EF4-FFF2-40B4-BE49-F238E27FC236}">
                <a16:creationId xmlns:a16="http://schemas.microsoft.com/office/drawing/2014/main" id="{627390A8-04A0-47BC-926B-10CD7C589479}"/>
              </a:ext>
            </a:extLst>
          </p:cNvPr>
          <p:cNvSpPr/>
          <p:nvPr/>
        </p:nvSpPr>
        <p:spPr>
          <a:xfrm>
            <a:off x="8483246" y="1396447"/>
            <a:ext cx="2502135" cy="1187564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CH"/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376797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34B67A-AD32-48E9-9968-8896D853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Beispiel Paketversand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9FD539-D6CB-4A51-82D1-B3CD02D6D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/>
              <a:t>Die Schule Kapellenfeld feiert 100-jähriges Jubiläum und braucht für ihr Fest zusätzliche Schulpulte. Wir möchten helfen und einige Pulte schicken.</a:t>
            </a:r>
          </a:p>
          <a:p>
            <a:pPr marL="0" indent="0">
              <a:buNone/>
            </a:pPr>
            <a:endParaRPr lang="de-CH"/>
          </a:p>
          <a:p>
            <a:pPr marL="0" indent="0">
              <a:buNone/>
            </a:pPr>
            <a:r>
              <a:rPr lang="de-CH"/>
              <a:t>Wie funktioniert dies genau?</a:t>
            </a:r>
          </a:p>
          <a:p>
            <a:pPr marL="0" indent="0">
              <a:buNone/>
            </a:pPr>
            <a:r>
              <a:rPr lang="de-CH"/>
              <a:t>Wer ist alles involviert?</a:t>
            </a:r>
          </a:p>
        </p:txBody>
      </p:sp>
      <p:pic>
        <p:nvPicPr>
          <p:cNvPr id="18" name="Grafik 17" descr="Ein Bild, das Tisch enthält.&#10;&#10;Automatisch generierte Beschreibung">
            <a:extLst>
              <a:ext uri="{FF2B5EF4-FFF2-40B4-BE49-F238E27FC236}">
                <a16:creationId xmlns:a16="http://schemas.microsoft.com/office/drawing/2014/main" id="{F15BE645-AFBF-48BD-8614-A3B50A00D8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6864350" y="4472586"/>
            <a:ext cx="1781068" cy="1598014"/>
          </a:xfrm>
          <a:prstGeom prst="rect">
            <a:avLst/>
          </a:prstGeom>
        </p:spPr>
      </p:pic>
      <p:pic>
        <p:nvPicPr>
          <p:cNvPr id="19" name="Grafik 18" descr="Ein Bild, das Tisch enthält.&#10;&#10;Automatisch generierte Beschreibung">
            <a:extLst>
              <a:ext uri="{FF2B5EF4-FFF2-40B4-BE49-F238E27FC236}">
                <a16:creationId xmlns:a16="http://schemas.microsoft.com/office/drawing/2014/main" id="{F086B890-3BBC-483B-9F9D-E6CB89AC4C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8419974" y="4472586"/>
            <a:ext cx="1781068" cy="159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22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1AE5ED23-6D74-4190-94CC-D64A0B6A2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18" y="1235593"/>
            <a:ext cx="1380558" cy="963629"/>
          </a:xfrm>
          <a:prstGeom prst="rect">
            <a:avLst/>
          </a:prstGeom>
        </p:spPr>
      </p:pic>
      <p:pic>
        <p:nvPicPr>
          <p:cNvPr id="14" name="Grafik 13" descr="Ein Bild, das Spielzeug, Raum, Uhr enthält.&#10;&#10;Automatisch generierte Beschreibung">
            <a:extLst>
              <a:ext uri="{FF2B5EF4-FFF2-40B4-BE49-F238E27FC236}">
                <a16:creationId xmlns:a16="http://schemas.microsoft.com/office/drawing/2014/main" id="{A0F73463-AA21-45AD-9A3B-7E159D721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55" y="1249353"/>
            <a:ext cx="1201936" cy="936107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17D7784-8DB5-4F5C-BDC5-1C911BB56CAA}"/>
              </a:ext>
            </a:extLst>
          </p:cNvPr>
          <p:cNvCxnSpPr>
            <a:cxnSpLocks/>
          </p:cNvCxnSpPr>
          <p:nvPr/>
        </p:nvCxnSpPr>
        <p:spPr>
          <a:xfrm>
            <a:off x="4991100" y="1702700"/>
            <a:ext cx="3467100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6DDEAEFE-C679-45C5-9BEA-ABC2BD32B058}"/>
              </a:ext>
            </a:extLst>
          </p:cNvPr>
          <p:cNvSpPr txBox="1"/>
          <p:nvPr/>
        </p:nvSpPr>
        <p:spPr>
          <a:xfrm>
            <a:off x="244747" y="1518034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Auftrag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545AA7C-B7C5-4A69-8D9E-2AA25FD91124}"/>
              </a:ext>
            </a:extLst>
          </p:cNvPr>
          <p:cNvSpPr txBox="1"/>
          <p:nvPr/>
        </p:nvSpPr>
        <p:spPr>
          <a:xfrm>
            <a:off x="2969791" y="424973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Kirchenfeld</a:t>
            </a:r>
            <a:endParaRPr lang="de-CH" b="1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0AD732F-3C12-463E-B00D-325FB8D1FE25}"/>
              </a:ext>
            </a:extLst>
          </p:cNvPr>
          <p:cNvSpPr txBox="1"/>
          <p:nvPr/>
        </p:nvSpPr>
        <p:spPr>
          <a:xfrm>
            <a:off x="8562534" y="430846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Kapellenfeld</a:t>
            </a:r>
            <a:endParaRPr lang="de-CH" b="1"/>
          </a:p>
        </p:txBody>
      </p:sp>
      <p:pic>
        <p:nvPicPr>
          <p:cNvPr id="84" name="Grafik 83" descr="Ein Bild, das Tisch enthält.&#10;&#10;Automatisch generierte Beschreibung">
            <a:extLst>
              <a:ext uri="{FF2B5EF4-FFF2-40B4-BE49-F238E27FC236}">
                <a16:creationId xmlns:a16="http://schemas.microsoft.com/office/drawing/2014/main" id="{7AB83152-9CB0-4622-A7B3-96C13F80111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5728074" y="586472"/>
            <a:ext cx="1075763" cy="965199"/>
          </a:xfrm>
          <a:prstGeom prst="rect">
            <a:avLst/>
          </a:prstGeom>
        </p:spPr>
      </p:pic>
      <p:pic>
        <p:nvPicPr>
          <p:cNvPr id="85" name="Grafik 8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AE5BCCB0-29DA-4E80-81C8-DBEFBA9837F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6577888" y="586471"/>
            <a:ext cx="1075763" cy="9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0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A35822C-F9C2-4D6F-B445-3D76F2D53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25" y="2657533"/>
            <a:ext cx="951543" cy="1103878"/>
          </a:xfrm>
          <a:prstGeom prst="rect">
            <a:avLst/>
          </a:prstGeom>
        </p:spPr>
      </p:pic>
      <p:pic>
        <p:nvPicPr>
          <p:cNvPr id="9" name="Grafik 8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C470D73-0F11-4734-87B7-E2374825EB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367855" y="1941486"/>
            <a:ext cx="1075763" cy="965199"/>
          </a:xfrm>
          <a:prstGeom prst="rect">
            <a:avLst/>
          </a:prstGeom>
        </p:spPr>
      </p:pic>
      <p:pic>
        <p:nvPicPr>
          <p:cNvPr id="12" name="Grafik 11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1AE5ED23-6D74-4190-94CC-D64A0B6A2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18" y="1235593"/>
            <a:ext cx="1380558" cy="963629"/>
          </a:xfrm>
          <a:prstGeom prst="rect">
            <a:avLst/>
          </a:prstGeom>
        </p:spPr>
      </p:pic>
      <p:pic>
        <p:nvPicPr>
          <p:cNvPr id="14" name="Grafik 13" descr="Ein Bild, das Spielzeug, Raum, Uhr enthält.&#10;&#10;Automatisch generierte Beschreibung">
            <a:extLst>
              <a:ext uri="{FF2B5EF4-FFF2-40B4-BE49-F238E27FC236}">
                <a16:creationId xmlns:a16="http://schemas.microsoft.com/office/drawing/2014/main" id="{A0F73463-AA21-45AD-9A3B-7E159D7218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55" y="1249353"/>
            <a:ext cx="1201936" cy="936107"/>
          </a:xfrm>
          <a:prstGeom prst="rect">
            <a:avLst/>
          </a:prstGeom>
        </p:spPr>
      </p:pic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17D7784-8DB5-4F5C-BDC5-1C911BB56CAA}"/>
              </a:ext>
            </a:extLst>
          </p:cNvPr>
          <p:cNvCxnSpPr>
            <a:cxnSpLocks/>
          </p:cNvCxnSpPr>
          <p:nvPr/>
        </p:nvCxnSpPr>
        <p:spPr>
          <a:xfrm>
            <a:off x="4991100" y="3177932"/>
            <a:ext cx="3467100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7C79F19-FF42-4127-A892-1069E0E519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2217669" y="1941485"/>
            <a:ext cx="1075763" cy="965199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1DAF1B9-049C-432B-9B03-BD2E724B104C}"/>
              </a:ext>
            </a:extLst>
          </p:cNvPr>
          <p:cNvSpPr txBox="1"/>
          <p:nvPr/>
        </p:nvSpPr>
        <p:spPr>
          <a:xfrm>
            <a:off x="244747" y="2886307"/>
            <a:ext cx="256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Zerlegen/</a:t>
            </a:r>
            <a:br>
              <a:rPr lang="de-CH"/>
            </a:br>
            <a:r>
              <a:rPr lang="de-CH"/>
              <a:t>verpacken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DDEAEFE-C679-45C5-9BEA-ABC2BD32B058}"/>
              </a:ext>
            </a:extLst>
          </p:cNvPr>
          <p:cNvSpPr txBox="1"/>
          <p:nvPr/>
        </p:nvSpPr>
        <p:spPr>
          <a:xfrm>
            <a:off x="244747" y="1518034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Auftrag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7E037A8B-B565-4E6A-B138-286D13479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51" y="2657533"/>
            <a:ext cx="951543" cy="1103878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7545AA7C-B7C5-4A69-8D9E-2AA25FD91124}"/>
              </a:ext>
            </a:extLst>
          </p:cNvPr>
          <p:cNvSpPr txBox="1"/>
          <p:nvPr/>
        </p:nvSpPr>
        <p:spPr>
          <a:xfrm>
            <a:off x="2969791" y="424973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Kirchenfeld</a:t>
            </a:r>
            <a:endParaRPr lang="de-CH" b="1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0AD732F-3C12-463E-B00D-325FB8D1FE25}"/>
              </a:ext>
            </a:extLst>
          </p:cNvPr>
          <p:cNvSpPr txBox="1"/>
          <p:nvPr/>
        </p:nvSpPr>
        <p:spPr>
          <a:xfrm>
            <a:off x="8562534" y="430846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Kapellenfeld</a:t>
            </a:r>
            <a:endParaRPr lang="de-CH" b="1"/>
          </a:p>
        </p:txBody>
      </p:sp>
      <p:pic>
        <p:nvPicPr>
          <p:cNvPr id="65" name="Grafik 6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D9C2C52E-2DCD-411A-8A49-EA06E1F644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0257855" y="1941486"/>
            <a:ext cx="1075763" cy="965199"/>
          </a:xfrm>
          <a:prstGeom prst="rect">
            <a:avLst/>
          </a:prstGeom>
        </p:spPr>
      </p:pic>
      <p:pic>
        <p:nvPicPr>
          <p:cNvPr id="66" name="Grafik 65" descr="Ein Bild, das Tisch enthält.&#10;&#10;Automatisch generierte Beschreibung">
            <a:extLst>
              <a:ext uri="{FF2B5EF4-FFF2-40B4-BE49-F238E27FC236}">
                <a16:creationId xmlns:a16="http://schemas.microsoft.com/office/drawing/2014/main" id="{EB3DADF5-A0F4-4B8C-8212-4F578A266E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1107669" y="1941485"/>
            <a:ext cx="1075763" cy="965199"/>
          </a:xfrm>
          <a:prstGeom prst="rect">
            <a:avLst/>
          </a:prstGeom>
        </p:spPr>
      </p:pic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D0A0958-C4E9-4E09-99AB-E48510EF358D}"/>
              </a:ext>
            </a:extLst>
          </p:cNvPr>
          <p:cNvCxnSpPr>
            <a:cxnSpLocks/>
          </p:cNvCxnSpPr>
          <p:nvPr/>
        </p:nvCxnSpPr>
        <p:spPr>
          <a:xfrm>
            <a:off x="32176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D6FD4EB1-327D-4DC3-A905-E7E8DE2CC42E}"/>
              </a:ext>
            </a:extLst>
          </p:cNvPr>
          <p:cNvCxnSpPr/>
          <p:nvPr/>
        </p:nvCxnSpPr>
        <p:spPr>
          <a:xfrm>
            <a:off x="102407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fik 5" descr="Ein Bild, das Uhr enthält.&#10;&#10;Automatisch generierte Beschreibung">
            <a:extLst>
              <a:ext uri="{FF2B5EF4-FFF2-40B4-BE49-F238E27FC236}">
                <a16:creationId xmlns:a16="http://schemas.microsoft.com/office/drawing/2014/main" id="{0BB3D22A-2D80-E140-BE8C-3D89EC10CB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636" y="2092672"/>
            <a:ext cx="719588" cy="814012"/>
          </a:xfrm>
          <a:prstGeom prst="rect">
            <a:avLst/>
          </a:prstGeom>
        </p:spPr>
      </p:pic>
      <p:pic>
        <p:nvPicPr>
          <p:cNvPr id="51" name="Grafik 6" descr="Ein Bild, das Uhr enthält.&#10;&#10;Automatisch generierte Beschreibung">
            <a:extLst>
              <a:ext uri="{FF2B5EF4-FFF2-40B4-BE49-F238E27FC236}">
                <a16:creationId xmlns:a16="http://schemas.microsoft.com/office/drawing/2014/main" id="{65FBA5CF-D717-5741-A458-AA0FD5DD80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642" y="2017354"/>
            <a:ext cx="373848" cy="422905"/>
          </a:xfrm>
          <a:prstGeom prst="rect">
            <a:avLst/>
          </a:prstGeom>
        </p:spPr>
      </p:pic>
      <p:pic>
        <p:nvPicPr>
          <p:cNvPr id="52" name="Grafik 7" descr="Ein Bild, das Computer, sitzend, Monitor, computer enthält.&#10;&#10;Automatisch generierte Beschreibung">
            <a:extLst>
              <a:ext uri="{FF2B5EF4-FFF2-40B4-BE49-F238E27FC236}">
                <a16:creationId xmlns:a16="http://schemas.microsoft.com/office/drawing/2014/main" id="{8331FA21-AD91-8145-986A-B7340E883C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502" y="2523101"/>
            <a:ext cx="486780" cy="38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5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14BACF73-916C-4EFE-8EE7-78744C684F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3344612" y="4246263"/>
            <a:ext cx="1075764" cy="39326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35822C-F9C2-4D6F-B445-3D76F2D53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25" y="2657533"/>
            <a:ext cx="951543" cy="1103878"/>
          </a:xfrm>
          <a:prstGeom prst="rect">
            <a:avLst/>
          </a:prstGeom>
        </p:spPr>
      </p:pic>
      <p:pic>
        <p:nvPicPr>
          <p:cNvPr id="6" name="Grafik 5" descr="Ein Bild, das Uhr enthält.&#10;&#10;Automatisch generierte Beschreibung">
            <a:extLst>
              <a:ext uri="{FF2B5EF4-FFF2-40B4-BE49-F238E27FC236}">
                <a16:creationId xmlns:a16="http://schemas.microsoft.com/office/drawing/2014/main" id="{4A00DE4C-6411-409F-B124-AA73DD2EC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731" y="3507238"/>
            <a:ext cx="719588" cy="814012"/>
          </a:xfrm>
          <a:prstGeom prst="rect">
            <a:avLst/>
          </a:prstGeom>
        </p:spPr>
      </p:pic>
      <p:pic>
        <p:nvPicPr>
          <p:cNvPr id="7" name="Grafik 6" descr="Ein Bild, das Uhr enthält.&#10;&#10;Automatisch generierte Beschreibung">
            <a:extLst>
              <a:ext uri="{FF2B5EF4-FFF2-40B4-BE49-F238E27FC236}">
                <a16:creationId xmlns:a16="http://schemas.microsoft.com/office/drawing/2014/main" id="{2C5274B8-0F41-4ED0-BB6E-37F262F0B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37" y="3431920"/>
            <a:ext cx="373848" cy="422905"/>
          </a:xfrm>
          <a:prstGeom prst="rect">
            <a:avLst/>
          </a:prstGeom>
        </p:spPr>
      </p:pic>
      <p:pic>
        <p:nvPicPr>
          <p:cNvPr id="8" name="Grafik 7" descr="Ein Bild, das Computer, sitzend, Monitor, computer enthält.&#10;&#10;Automatisch generierte Beschreibung">
            <a:extLst>
              <a:ext uri="{FF2B5EF4-FFF2-40B4-BE49-F238E27FC236}">
                <a16:creationId xmlns:a16="http://schemas.microsoft.com/office/drawing/2014/main" id="{90E1CB6C-FCE0-4EAA-932B-51E346211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597" y="3937667"/>
            <a:ext cx="486780" cy="383583"/>
          </a:xfrm>
          <a:prstGeom prst="rect">
            <a:avLst/>
          </a:prstGeom>
        </p:spPr>
      </p:pic>
      <p:pic>
        <p:nvPicPr>
          <p:cNvPr id="9" name="Grafik 8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C470D73-0F11-4734-87B7-E2374825EB4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367855" y="1941486"/>
            <a:ext cx="1075763" cy="965199"/>
          </a:xfrm>
          <a:prstGeom prst="rect">
            <a:avLst/>
          </a:prstGeom>
        </p:spPr>
      </p:pic>
      <p:pic>
        <p:nvPicPr>
          <p:cNvPr id="12" name="Grafik 11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1AE5ED23-6D74-4190-94CC-D64A0B6A28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18" y="1235593"/>
            <a:ext cx="1380558" cy="963629"/>
          </a:xfrm>
          <a:prstGeom prst="rect">
            <a:avLst/>
          </a:prstGeom>
        </p:spPr>
      </p:pic>
      <p:pic>
        <p:nvPicPr>
          <p:cNvPr id="14" name="Grafik 13" descr="Ein Bild, das Spielzeug, Raum, Uhr enthält.&#10;&#10;Automatisch generierte Beschreibung">
            <a:extLst>
              <a:ext uri="{FF2B5EF4-FFF2-40B4-BE49-F238E27FC236}">
                <a16:creationId xmlns:a16="http://schemas.microsoft.com/office/drawing/2014/main" id="{A0F73463-AA21-45AD-9A3B-7E159D721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55" y="1249353"/>
            <a:ext cx="1201936" cy="936107"/>
          </a:xfrm>
          <a:prstGeom prst="rect">
            <a:avLst/>
          </a:prstGeom>
        </p:spPr>
      </p:pic>
      <p:pic>
        <p:nvPicPr>
          <p:cNvPr id="17" name="Grafik 16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7C79F19-FF42-4127-A892-1069E0E519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2217669" y="1941485"/>
            <a:ext cx="1075763" cy="965199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1DAF1B9-049C-432B-9B03-BD2E724B104C}"/>
              </a:ext>
            </a:extLst>
          </p:cNvPr>
          <p:cNvSpPr txBox="1"/>
          <p:nvPr/>
        </p:nvSpPr>
        <p:spPr>
          <a:xfrm>
            <a:off x="244747" y="2886307"/>
            <a:ext cx="256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Zerlegen/</a:t>
            </a:r>
            <a:br>
              <a:rPr lang="de-CH"/>
            </a:br>
            <a:r>
              <a:rPr lang="de-CH"/>
              <a:t>verpacken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EAF5BFB-B386-43A0-91B8-1BB4AC86C1F1}"/>
              </a:ext>
            </a:extLst>
          </p:cNvPr>
          <p:cNvSpPr txBox="1"/>
          <p:nvPr/>
        </p:nvSpPr>
        <p:spPr>
          <a:xfrm>
            <a:off x="244747" y="4258232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Logistik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DDEAEFE-C679-45C5-9BEA-ABC2BD32B058}"/>
              </a:ext>
            </a:extLst>
          </p:cNvPr>
          <p:cNvSpPr txBox="1"/>
          <p:nvPr/>
        </p:nvSpPr>
        <p:spPr>
          <a:xfrm>
            <a:off x="244747" y="1518034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Auftrag</a:t>
            </a: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7E037A8B-B565-4E6A-B138-286D13479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51" y="2657533"/>
            <a:ext cx="951543" cy="1103878"/>
          </a:xfrm>
          <a:prstGeom prst="rect">
            <a:avLst/>
          </a:prstGeom>
        </p:spPr>
      </p:pic>
      <p:pic>
        <p:nvPicPr>
          <p:cNvPr id="43" name="Grafik 42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5F2A9AD2-FCF2-4E9B-B7EB-80FCFEE005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8890538" y="4246263"/>
            <a:ext cx="1075764" cy="393267"/>
          </a:xfrm>
          <a:prstGeom prst="rect">
            <a:avLst/>
          </a:prstGeom>
        </p:spPr>
      </p:pic>
      <p:pic>
        <p:nvPicPr>
          <p:cNvPr id="44" name="Grafik 43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9FB92E44-B070-432B-9CA3-D4C4571466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6157696" y="4246263"/>
            <a:ext cx="1075764" cy="393267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7545AA7C-B7C5-4A69-8D9E-2AA25FD91124}"/>
              </a:ext>
            </a:extLst>
          </p:cNvPr>
          <p:cNvSpPr txBox="1"/>
          <p:nvPr/>
        </p:nvSpPr>
        <p:spPr>
          <a:xfrm>
            <a:off x="2969791" y="424973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Kirchenfeld</a:t>
            </a:r>
            <a:endParaRPr lang="de-CH" b="1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0AD732F-3C12-463E-B00D-325FB8D1FE25}"/>
              </a:ext>
            </a:extLst>
          </p:cNvPr>
          <p:cNvSpPr txBox="1"/>
          <p:nvPr/>
        </p:nvSpPr>
        <p:spPr>
          <a:xfrm>
            <a:off x="8562534" y="430846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Kapellenfeld</a:t>
            </a:r>
            <a:endParaRPr lang="de-CH" b="1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22A542D-BCC2-4997-B629-34FB7B83DAA6}"/>
              </a:ext>
            </a:extLst>
          </p:cNvPr>
          <p:cNvSpPr txBox="1"/>
          <p:nvPr/>
        </p:nvSpPr>
        <p:spPr>
          <a:xfrm>
            <a:off x="5560645" y="3721844"/>
            <a:ext cx="226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Zentrum </a:t>
            </a:r>
            <a:r>
              <a:rPr lang="de-CH" sz="2000" b="1" err="1"/>
              <a:t>Härkingen</a:t>
            </a:r>
            <a:endParaRPr lang="de-CH" sz="2000" b="1"/>
          </a:p>
        </p:txBody>
      </p:sp>
      <p:pic>
        <p:nvPicPr>
          <p:cNvPr id="62" name="Grafik 61" descr="Ein Bild, das Uhr enthält.&#10;&#10;Automatisch generierte Beschreibung">
            <a:extLst>
              <a:ext uri="{FF2B5EF4-FFF2-40B4-BE49-F238E27FC236}">
                <a16:creationId xmlns:a16="http://schemas.microsoft.com/office/drawing/2014/main" id="{A88EE53F-BDEF-4D31-ADBA-09849732F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731" y="3507238"/>
            <a:ext cx="719588" cy="814012"/>
          </a:xfrm>
          <a:prstGeom prst="rect">
            <a:avLst/>
          </a:prstGeom>
        </p:spPr>
      </p:pic>
      <p:pic>
        <p:nvPicPr>
          <p:cNvPr id="63" name="Grafik 62" descr="Ein Bild, das Uhr enthält.&#10;&#10;Automatisch generierte Beschreibung">
            <a:extLst>
              <a:ext uri="{FF2B5EF4-FFF2-40B4-BE49-F238E27FC236}">
                <a16:creationId xmlns:a16="http://schemas.microsoft.com/office/drawing/2014/main" id="{77E5E7AF-29BC-43C6-8300-16C589283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737" y="3431920"/>
            <a:ext cx="373848" cy="422905"/>
          </a:xfrm>
          <a:prstGeom prst="rect">
            <a:avLst/>
          </a:prstGeom>
        </p:spPr>
      </p:pic>
      <p:pic>
        <p:nvPicPr>
          <p:cNvPr id="64" name="Grafik 63" descr="Ein Bild, das Computer, sitzend, Monitor, computer enthält.&#10;&#10;Automatisch generierte Beschreibung">
            <a:extLst>
              <a:ext uri="{FF2B5EF4-FFF2-40B4-BE49-F238E27FC236}">
                <a16:creationId xmlns:a16="http://schemas.microsoft.com/office/drawing/2014/main" id="{19D1F6E9-4F6D-4CD6-83E0-A44D1EE5C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597" y="3937667"/>
            <a:ext cx="486780" cy="383583"/>
          </a:xfrm>
          <a:prstGeom prst="rect">
            <a:avLst/>
          </a:prstGeom>
        </p:spPr>
      </p:pic>
      <p:pic>
        <p:nvPicPr>
          <p:cNvPr id="65" name="Grafik 6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D9C2C52E-2DCD-411A-8A49-EA06E1F644A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0257855" y="1941486"/>
            <a:ext cx="1075763" cy="965199"/>
          </a:xfrm>
          <a:prstGeom prst="rect">
            <a:avLst/>
          </a:prstGeom>
        </p:spPr>
      </p:pic>
      <p:pic>
        <p:nvPicPr>
          <p:cNvPr id="66" name="Grafik 65" descr="Ein Bild, das Tisch enthält.&#10;&#10;Automatisch generierte Beschreibung">
            <a:extLst>
              <a:ext uri="{FF2B5EF4-FFF2-40B4-BE49-F238E27FC236}">
                <a16:creationId xmlns:a16="http://schemas.microsoft.com/office/drawing/2014/main" id="{EB3DADF5-A0F4-4B8C-8212-4F578A266ED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1107669" y="1941485"/>
            <a:ext cx="1075763" cy="965199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CB20658A-D3AB-4889-BADD-C3899ABBBA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974" y="4728724"/>
            <a:ext cx="602324" cy="853151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AF6424A6-6C72-4724-AE9D-2FAC3B32C6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296" y="4733243"/>
            <a:ext cx="602324" cy="853151"/>
          </a:xfrm>
          <a:prstGeom prst="rect">
            <a:avLst/>
          </a:prstGeom>
        </p:spPr>
      </p:pic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D0A0958-C4E9-4E09-99AB-E48510EF358D}"/>
              </a:ext>
            </a:extLst>
          </p:cNvPr>
          <p:cNvCxnSpPr>
            <a:cxnSpLocks/>
          </p:cNvCxnSpPr>
          <p:nvPr/>
        </p:nvCxnSpPr>
        <p:spPr>
          <a:xfrm>
            <a:off x="32176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B8377CF3-2713-4FF0-8D87-41FF38CA23BD}"/>
              </a:ext>
            </a:extLst>
          </p:cNvPr>
          <p:cNvCxnSpPr/>
          <p:nvPr/>
        </p:nvCxnSpPr>
        <p:spPr>
          <a:xfrm>
            <a:off x="32176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D6FD4EB1-327D-4DC3-A905-E7E8DE2CC42E}"/>
              </a:ext>
            </a:extLst>
          </p:cNvPr>
          <p:cNvCxnSpPr/>
          <p:nvPr/>
        </p:nvCxnSpPr>
        <p:spPr>
          <a:xfrm>
            <a:off x="102407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EFFFF9B8-04B5-44C0-B23F-FB17C76A3050}"/>
              </a:ext>
            </a:extLst>
          </p:cNvPr>
          <p:cNvCxnSpPr/>
          <p:nvPr/>
        </p:nvCxnSpPr>
        <p:spPr>
          <a:xfrm>
            <a:off x="102407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15">
            <a:extLst>
              <a:ext uri="{FF2B5EF4-FFF2-40B4-BE49-F238E27FC236}">
                <a16:creationId xmlns:a16="http://schemas.microsoft.com/office/drawing/2014/main" id="{3BE88A27-570F-E44F-BD6F-4B139C5444B9}"/>
              </a:ext>
            </a:extLst>
          </p:cNvPr>
          <p:cNvCxnSpPr>
            <a:cxnSpLocks/>
          </p:cNvCxnSpPr>
          <p:nvPr/>
        </p:nvCxnSpPr>
        <p:spPr>
          <a:xfrm>
            <a:off x="4701563" y="4472636"/>
            <a:ext cx="1211557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15">
            <a:extLst>
              <a:ext uri="{FF2B5EF4-FFF2-40B4-BE49-F238E27FC236}">
                <a16:creationId xmlns:a16="http://schemas.microsoft.com/office/drawing/2014/main" id="{3BBFD2C8-514E-3243-8C1F-42B9A06A2F68}"/>
              </a:ext>
            </a:extLst>
          </p:cNvPr>
          <p:cNvCxnSpPr>
            <a:cxnSpLocks/>
          </p:cNvCxnSpPr>
          <p:nvPr/>
        </p:nvCxnSpPr>
        <p:spPr>
          <a:xfrm>
            <a:off x="7386974" y="4472636"/>
            <a:ext cx="1211557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fik 66">
            <a:extLst>
              <a:ext uri="{FF2B5EF4-FFF2-40B4-BE49-F238E27FC236}">
                <a16:creationId xmlns:a16="http://schemas.microsoft.com/office/drawing/2014/main" id="{CD6AED36-BB82-904C-8478-65FEF43513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776" y="4724205"/>
            <a:ext cx="602324" cy="853151"/>
          </a:xfrm>
          <a:prstGeom prst="rect">
            <a:avLst/>
          </a:prstGeom>
        </p:spPr>
      </p:pic>
      <p:pic>
        <p:nvPicPr>
          <p:cNvPr id="55" name="Grafik 67">
            <a:extLst>
              <a:ext uri="{FF2B5EF4-FFF2-40B4-BE49-F238E27FC236}">
                <a16:creationId xmlns:a16="http://schemas.microsoft.com/office/drawing/2014/main" id="{C4CDB003-733D-1F44-BD9F-F62730FBCE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098" y="4728724"/>
            <a:ext cx="602324" cy="85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5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14BACF73-916C-4EFE-8EE7-78744C684F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3344612" y="4246263"/>
            <a:ext cx="1075764" cy="39326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A35822C-F9C2-4D6F-B445-3D76F2D53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25" y="2657533"/>
            <a:ext cx="951543" cy="1103878"/>
          </a:xfrm>
          <a:prstGeom prst="rect">
            <a:avLst/>
          </a:prstGeom>
        </p:spPr>
      </p:pic>
      <p:pic>
        <p:nvPicPr>
          <p:cNvPr id="6" name="Grafik 5" descr="Ein Bild, das Uhr enthält.&#10;&#10;Automatisch generierte Beschreibung">
            <a:extLst>
              <a:ext uri="{FF2B5EF4-FFF2-40B4-BE49-F238E27FC236}">
                <a16:creationId xmlns:a16="http://schemas.microsoft.com/office/drawing/2014/main" id="{4A00DE4C-6411-409F-B124-AA73DD2EC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731" y="3507238"/>
            <a:ext cx="719588" cy="814012"/>
          </a:xfrm>
          <a:prstGeom prst="rect">
            <a:avLst/>
          </a:prstGeom>
        </p:spPr>
      </p:pic>
      <p:pic>
        <p:nvPicPr>
          <p:cNvPr id="7" name="Grafik 6" descr="Ein Bild, das Uhr enthält.&#10;&#10;Automatisch generierte Beschreibung">
            <a:extLst>
              <a:ext uri="{FF2B5EF4-FFF2-40B4-BE49-F238E27FC236}">
                <a16:creationId xmlns:a16="http://schemas.microsoft.com/office/drawing/2014/main" id="{2C5274B8-0F41-4ED0-BB6E-37F262F0B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37" y="3431920"/>
            <a:ext cx="373848" cy="422905"/>
          </a:xfrm>
          <a:prstGeom prst="rect">
            <a:avLst/>
          </a:prstGeom>
        </p:spPr>
      </p:pic>
      <p:pic>
        <p:nvPicPr>
          <p:cNvPr id="8" name="Grafik 7" descr="Ein Bild, das Computer, sitzend, Monitor, computer enthält.&#10;&#10;Automatisch generierte Beschreibung">
            <a:extLst>
              <a:ext uri="{FF2B5EF4-FFF2-40B4-BE49-F238E27FC236}">
                <a16:creationId xmlns:a16="http://schemas.microsoft.com/office/drawing/2014/main" id="{90E1CB6C-FCE0-4EAA-932B-51E346211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597" y="3937667"/>
            <a:ext cx="486780" cy="383583"/>
          </a:xfrm>
          <a:prstGeom prst="rect">
            <a:avLst/>
          </a:prstGeom>
        </p:spPr>
      </p:pic>
      <p:pic>
        <p:nvPicPr>
          <p:cNvPr id="9" name="Grafik 8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C470D73-0F11-4734-87B7-E2374825EB4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367855" y="1941486"/>
            <a:ext cx="1075763" cy="965199"/>
          </a:xfrm>
          <a:prstGeom prst="rect">
            <a:avLst/>
          </a:prstGeom>
        </p:spPr>
      </p:pic>
      <p:pic>
        <p:nvPicPr>
          <p:cNvPr id="12" name="Grafik 11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1AE5ED23-6D74-4190-94CC-D64A0B6A28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218" y="1235593"/>
            <a:ext cx="1380558" cy="963629"/>
          </a:xfrm>
          <a:prstGeom prst="rect">
            <a:avLst/>
          </a:prstGeom>
        </p:spPr>
      </p:pic>
      <p:pic>
        <p:nvPicPr>
          <p:cNvPr id="14" name="Grafik 13" descr="Ein Bild, das Spielzeug, Raum, Uhr enthält.&#10;&#10;Automatisch generierte Beschreibung">
            <a:extLst>
              <a:ext uri="{FF2B5EF4-FFF2-40B4-BE49-F238E27FC236}">
                <a16:creationId xmlns:a16="http://schemas.microsoft.com/office/drawing/2014/main" id="{A0F73463-AA21-45AD-9A3B-7E159D721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455" y="1249353"/>
            <a:ext cx="1201936" cy="936107"/>
          </a:xfrm>
          <a:prstGeom prst="rect">
            <a:avLst/>
          </a:prstGeom>
        </p:spPr>
      </p:pic>
      <p:pic>
        <p:nvPicPr>
          <p:cNvPr id="17" name="Grafik 16" descr="Ein Bild, das Tisch enthält.&#10;&#10;Automatisch generierte Beschreibung">
            <a:extLst>
              <a:ext uri="{FF2B5EF4-FFF2-40B4-BE49-F238E27FC236}">
                <a16:creationId xmlns:a16="http://schemas.microsoft.com/office/drawing/2014/main" id="{27C79F19-FF42-4127-A892-1069E0E519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2217669" y="1941485"/>
            <a:ext cx="1075763" cy="965199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1DAF1B9-049C-432B-9B03-BD2E724B104C}"/>
              </a:ext>
            </a:extLst>
          </p:cNvPr>
          <p:cNvSpPr txBox="1"/>
          <p:nvPr/>
        </p:nvSpPr>
        <p:spPr>
          <a:xfrm>
            <a:off x="244747" y="2886307"/>
            <a:ext cx="256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Zerlegen/</a:t>
            </a:r>
            <a:br>
              <a:rPr lang="de-CH"/>
            </a:br>
            <a:r>
              <a:rPr lang="de-CH"/>
              <a:t>verpacken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EAF5BFB-B386-43A0-91B8-1BB4AC86C1F1}"/>
              </a:ext>
            </a:extLst>
          </p:cNvPr>
          <p:cNvSpPr txBox="1"/>
          <p:nvPr/>
        </p:nvSpPr>
        <p:spPr>
          <a:xfrm>
            <a:off x="244747" y="4258232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Logistik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CA62659-7AEC-4517-9A7B-666B00E58CAC}"/>
              </a:ext>
            </a:extLst>
          </p:cNvPr>
          <p:cNvSpPr txBox="1"/>
          <p:nvPr/>
        </p:nvSpPr>
        <p:spPr>
          <a:xfrm>
            <a:off x="244747" y="5633501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Transport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6DDEAEFE-C679-45C5-9BEA-ABC2BD32B058}"/>
              </a:ext>
            </a:extLst>
          </p:cNvPr>
          <p:cNvSpPr txBox="1"/>
          <p:nvPr/>
        </p:nvSpPr>
        <p:spPr>
          <a:xfrm>
            <a:off x="244747" y="1518034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Auftrag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A0010D1F-FD22-4BEB-BB43-DE3C24E5AA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731" y="4759321"/>
            <a:ext cx="602324" cy="853151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4AA39214-44A2-4EC5-89FC-374CBE233A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53" y="4763840"/>
            <a:ext cx="602324" cy="853151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7E037A8B-B565-4E6A-B138-286D13479A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51" y="2657533"/>
            <a:ext cx="951543" cy="1103878"/>
          </a:xfrm>
          <a:prstGeom prst="rect">
            <a:avLst/>
          </a:prstGeom>
        </p:spPr>
      </p:pic>
      <p:pic>
        <p:nvPicPr>
          <p:cNvPr id="43" name="Grafik 42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5F2A9AD2-FCF2-4E9B-B7EB-80FCFEE005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8890538" y="4246263"/>
            <a:ext cx="1075764" cy="393267"/>
          </a:xfrm>
          <a:prstGeom prst="rect">
            <a:avLst/>
          </a:prstGeom>
        </p:spPr>
      </p:pic>
      <p:pic>
        <p:nvPicPr>
          <p:cNvPr id="44" name="Grafik 43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9FB92E44-B070-432B-9CA3-D4C4571466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6157696" y="4246263"/>
            <a:ext cx="1075764" cy="393267"/>
          </a:xfrm>
          <a:prstGeom prst="rect">
            <a:avLst/>
          </a:prstGeom>
        </p:spPr>
      </p:pic>
      <p:sp>
        <p:nvSpPr>
          <p:cNvPr id="46" name="Textfeld 45">
            <a:extLst>
              <a:ext uri="{FF2B5EF4-FFF2-40B4-BE49-F238E27FC236}">
                <a16:creationId xmlns:a16="http://schemas.microsoft.com/office/drawing/2014/main" id="{7545AA7C-B7C5-4A69-8D9E-2AA25FD91124}"/>
              </a:ext>
            </a:extLst>
          </p:cNvPr>
          <p:cNvSpPr txBox="1"/>
          <p:nvPr/>
        </p:nvSpPr>
        <p:spPr>
          <a:xfrm>
            <a:off x="2969791" y="424973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Kirchenfeld</a:t>
            </a:r>
            <a:endParaRPr lang="de-CH" b="1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0AD732F-3C12-463E-B00D-325FB8D1FE25}"/>
              </a:ext>
            </a:extLst>
          </p:cNvPr>
          <p:cNvSpPr txBox="1"/>
          <p:nvPr/>
        </p:nvSpPr>
        <p:spPr>
          <a:xfrm>
            <a:off x="8562534" y="430846"/>
            <a:ext cx="1731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Kapellenfeld</a:t>
            </a:r>
            <a:endParaRPr lang="de-CH" b="1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22A542D-BCC2-4997-B629-34FB7B83DAA6}"/>
              </a:ext>
            </a:extLst>
          </p:cNvPr>
          <p:cNvSpPr txBox="1"/>
          <p:nvPr/>
        </p:nvSpPr>
        <p:spPr>
          <a:xfrm>
            <a:off x="5560645" y="3721844"/>
            <a:ext cx="2269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2000" b="1"/>
              <a:t>Zentrum </a:t>
            </a:r>
            <a:r>
              <a:rPr lang="de-CH" sz="2000" b="1" err="1"/>
              <a:t>Härkingen</a:t>
            </a:r>
            <a:endParaRPr lang="de-CH" sz="2000" b="1"/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E9DFC26D-C8D3-4FB7-93F5-11DCC16B75B5}"/>
              </a:ext>
            </a:extLst>
          </p:cNvPr>
          <p:cNvCxnSpPr>
            <a:cxnSpLocks/>
          </p:cNvCxnSpPr>
          <p:nvPr/>
        </p:nvCxnSpPr>
        <p:spPr>
          <a:xfrm>
            <a:off x="5779276" y="4321250"/>
            <a:ext cx="0" cy="149691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F4C83A83-0904-43D1-A26E-7B9BA8E1FE0A}"/>
              </a:ext>
            </a:extLst>
          </p:cNvPr>
          <p:cNvCxnSpPr>
            <a:cxnSpLocks/>
          </p:cNvCxnSpPr>
          <p:nvPr/>
        </p:nvCxnSpPr>
        <p:spPr>
          <a:xfrm>
            <a:off x="7612517" y="4321250"/>
            <a:ext cx="0" cy="149758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1219CC3-0853-4D29-BF46-54F80F6180B2}"/>
              </a:ext>
            </a:extLst>
          </p:cNvPr>
          <p:cNvCxnSpPr>
            <a:cxnSpLocks/>
          </p:cNvCxnSpPr>
          <p:nvPr/>
        </p:nvCxnSpPr>
        <p:spPr>
          <a:xfrm>
            <a:off x="3192218" y="5817615"/>
            <a:ext cx="2587058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Grafik 61" descr="Ein Bild, das Uhr enthält.&#10;&#10;Automatisch generierte Beschreibung">
            <a:extLst>
              <a:ext uri="{FF2B5EF4-FFF2-40B4-BE49-F238E27FC236}">
                <a16:creationId xmlns:a16="http://schemas.microsoft.com/office/drawing/2014/main" id="{A88EE53F-BDEF-4D31-ADBA-09849732F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731" y="3507238"/>
            <a:ext cx="719588" cy="814012"/>
          </a:xfrm>
          <a:prstGeom prst="rect">
            <a:avLst/>
          </a:prstGeom>
        </p:spPr>
      </p:pic>
      <p:pic>
        <p:nvPicPr>
          <p:cNvPr id="63" name="Grafik 62" descr="Ein Bild, das Uhr enthält.&#10;&#10;Automatisch generierte Beschreibung">
            <a:extLst>
              <a:ext uri="{FF2B5EF4-FFF2-40B4-BE49-F238E27FC236}">
                <a16:creationId xmlns:a16="http://schemas.microsoft.com/office/drawing/2014/main" id="{77E5E7AF-29BC-43C6-8300-16C589283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737" y="3431920"/>
            <a:ext cx="373848" cy="422905"/>
          </a:xfrm>
          <a:prstGeom prst="rect">
            <a:avLst/>
          </a:prstGeom>
        </p:spPr>
      </p:pic>
      <p:pic>
        <p:nvPicPr>
          <p:cNvPr id="64" name="Grafik 63" descr="Ein Bild, das Computer, sitzend, Monitor, computer enthält.&#10;&#10;Automatisch generierte Beschreibung">
            <a:extLst>
              <a:ext uri="{FF2B5EF4-FFF2-40B4-BE49-F238E27FC236}">
                <a16:creationId xmlns:a16="http://schemas.microsoft.com/office/drawing/2014/main" id="{19D1F6E9-4F6D-4CD6-83E0-A44D1EE5C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597" y="3937667"/>
            <a:ext cx="486780" cy="383583"/>
          </a:xfrm>
          <a:prstGeom prst="rect">
            <a:avLst/>
          </a:prstGeom>
        </p:spPr>
      </p:pic>
      <p:pic>
        <p:nvPicPr>
          <p:cNvPr id="65" name="Grafik 6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D9C2C52E-2DCD-411A-8A49-EA06E1F644A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0257855" y="1941486"/>
            <a:ext cx="1075763" cy="965199"/>
          </a:xfrm>
          <a:prstGeom prst="rect">
            <a:avLst/>
          </a:prstGeom>
        </p:spPr>
      </p:pic>
      <p:pic>
        <p:nvPicPr>
          <p:cNvPr id="66" name="Grafik 65" descr="Ein Bild, das Tisch enthält.&#10;&#10;Automatisch generierte Beschreibung">
            <a:extLst>
              <a:ext uri="{FF2B5EF4-FFF2-40B4-BE49-F238E27FC236}">
                <a16:creationId xmlns:a16="http://schemas.microsoft.com/office/drawing/2014/main" id="{EB3DADF5-A0F4-4B8C-8212-4F578A266ED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78"/>
          <a:stretch/>
        </p:blipFill>
        <p:spPr>
          <a:xfrm>
            <a:off x="11107669" y="1941485"/>
            <a:ext cx="1075763" cy="965199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CB20658A-D3AB-4889-BADD-C3899ABBBA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731" y="4759321"/>
            <a:ext cx="602324" cy="853151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AF6424A6-6C72-4724-AE9D-2FAC3B32C6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53" y="4763840"/>
            <a:ext cx="602324" cy="853151"/>
          </a:xfrm>
          <a:prstGeom prst="rect">
            <a:avLst/>
          </a:prstGeom>
        </p:spPr>
      </p:pic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0D0A0958-C4E9-4E09-99AB-E48510EF358D}"/>
              </a:ext>
            </a:extLst>
          </p:cNvPr>
          <p:cNvCxnSpPr>
            <a:cxnSpLocks/>
          </p:cNvCxnSpPr>
          <p:nvPr/>
        </p:nvCxnSpPr>
        <p:spPr>
          <a:xfrm>
            <a:off x="32176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B8377CF3-2713-4FF0-8D87-41FF38CA23BD}"/>
              </a:ext>
            </a:extLst>
          </p:cNvPr>
          <p:cNvCxnSpPr/>
          <p:nvPr/>
        </p:nvCxnSpPr>
        <p:spPr>
          <a:xfrm>
            <a:off x="32176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3E91B02F-15E6-42B4-A091-33C365500513}"/>
              </a:ext>
            </a:extLst>
          </p:cNvPr>
          <p:cNvCxnSpPr>
            <a:cxnSpLocks/>
          </p:cNvCxnSpPr>
          <p:nvPr/>
        </p:nvCxnSpPr>
        <p:spPr>
          <a:xfrm>
            <a:off x="3217618" y="4606252"/>
            <a:ext cx="0" cy="11239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D6FD4EB1-327D-4DC3-A905-E7E8DE2CC42E}"/>
              </a:ext>
            </a:extLst>
          </p:cNvPr>
          <p:cNvCxnSpPr/>
          <p:nvPr/>
        </p:nvCxnSpPr>
        <p:spPr>
          <a:xfrm>
            <a:off x="10240718" y="1903385"/>
            <a:ext cx="0" cy="126798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EFFFF9B8-04B5-44C0-B23F-FB17C76A3050}"/>
              </a:ext>
            </a:extLst>
          </p:cNvPr>
          <p:cNvCxnSpPr/>
          <p:nvPr/>
        </p:nvCxnSpPr>
        <p:spPr>
          <a:xfrm>
            <a:off x="10240718" y="3319921"/>
            <a:ext cx="0" cy="1152715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03A157AF-109F-4DC0-97A2-E81ED7C9B4CA}"/>
              </a:ext>
            </a:extLst>
          </p:cNvPr>
          <p:cNvCxnSpPr>
            <a:cxnSpLocks/>
          </p:cNvCxnSpPr>
          <p:nvPr/>
        </p:nvCxnSpPr>
        <p:spPr>
          <a:xfrm>
            <a:off x="10240718" y="4606252"/>
            <a:ext cx="17137" cy="1123988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56">
            <a:extLst>
              <a:ext uri="{FF2B5EF4-FFF2-40B4-BE49-F238E27FC236}">
                <a16:creationId xmlns:a16="http://schemas.microsoft.com/office/drawing/2014/main" id="{D0D72F63-C2BB-A945-88AB-948BBF0527F3}"/>
              </a:ext>
            </a:extLst>
          </p:cNvPr>
          <p:cNvCxnSpPr>
            <a:cxnSpLocks/>
          </p:cNvCxnSpPr>
          <p:nvPr/>
        </p:nvCxnSpPr>
        <p:spPr>
          <a:xfrm>
            <a:off x="7612517" y="5817615"/>
            <a:ext cx="2587058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B1268D62-ACD6-4E8C-B07B-E99C91C995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328" y="5633501"/>
            <a:ext cx="1579879" cy="1071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202E64-4A17-2345-B7FF-34BF832FB5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138" y="5584263"/>
            <a:ext cx="15748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EC930-68F2-4DAC-BCD2-902F107D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Schichtenmodell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730E495-2008-4229-8625-44C6D0980710}"/>
              </a:ext>
            </a:extLst>
          </p:cNvPr>
          <p:cNvSpPr/>
          <p:nvPr/>
        </p:nvSpPr>
        <p:spPr>
          <a:xfrm>
            <a:off x="1181100" y="2146300"/>
            <a:ext cx="3390900" cy="1028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Anwendungsschicht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09A8258-6E3C-4294-96CB-7AE6F68E55D9}"/>
              </a:ext>
            </a:extLst>
          </p:cNvPr>
          <p:cNvSpPr/>
          <p:nvPr/>
        </p:nvSpPr>
        <p:spPr>
          <a:xfrm>
            <a:off x="1181100" y="3168651"/>
            <a:ext cx="3390900" cy="10287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Transportschicht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048429-AE3D-4EC3-9B97-636BC9C352C1}"/>
              </a:ext>
            </a:extLst>
          </p:cNvPr>
          <p:cNvSpPr/>
          <p:nvPr/>
        </p:nvSpPr>
        <p:spPr>
          <a:xfrm>
            <a:off x="1181100" y="4191002"/>
            <a:ext cx="3390900" cy="10287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Vermittlungsschicht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F25C40-C91D-43F3-BBCD-9F3893A18854}"/>
              </a:ext>
            </a:extLst>
          </p:cNvPr>
          <p:cNvSpPr/>
          <p:nvPr/>
        </p:nvSpPr>
        <p:spPr>
          <a:xfrm>
            <a:off x="1181100" y="5213353"/>
            <a:ext cx="3390900" cy="1028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Physikalische Schicht</a:t>
            </a:r>
          </a:p>
        </p:txBody>
      </p:sp>
      <p:pic>
        <p:nvPicPr>
          <p:cNvPr id="21" name="Grafik 20" descr="Ein Bild, das sitzend, Monitor, dunkel, orange enthält.&#10;&#10;Automatisch generierte Beschreibung">
            <a:extLst>
              <a:ext uri="{FF2B5EF4-FFF2-40B4-BE49-F238E27FC236}">
                <a16:creationId xmlns:a16="http://schemas.microsoft.com/office/drawing/2014/main" id="{3C6CE2CC-D3B4-4975-83D5-CCAD95F670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31" b="18880"/>
          <a:stretch/>
        </p:blipFill>
        <p:spPr>
          <a:xfrm>
            <a:off x="5378769" y="4527156"/>
            <a:ext cx="1075764" cy="3932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7B33A18-9BA4-4433-8364-401A817BA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115" y="3242464"/>
            <a:ext cx="717072" cy="831870"/>
          </a:xfrm>
          <a:prstGeom prst="rect">
            <a:avLst/>
          </a:prstGeom>
        </p:spPr>
      </p:pic>
      <p:pic>
        <p:nvPicPr>
          <p:cNvPr id="27" name="Grafik 26" descr="Ein Bild, das Spielzeug, Puppe enthält.&#10;&#10;Automatisch generierte Beschreibung">
            <a:extLst>
              <a:ext uri="{FF2B5EF4-FFF2-40B4-BE49-F238E27FC236}">
                <a16:creationId xmlns:a16="http://schemas.microsoft.com/office/drawing/2014/main" id="{E583EDD7-0A24-456C-9DFF-91A77A014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118" y="2214540"/>
            <a:ext cx="1225066" cy="855096"/>
          </a:xfrm>
          <a:prstGeom prst="rect">
            <a:avLst/>
          </a:prstGeom>
        </p:spPr>
      </p:pic>
      <p:pic>
        <p:nvPicPr>
          <p:cNvPr id="28" name="Grafik 27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37066AFE-CA3C-4159-AD2B-E80FDB601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118" y="5449674"/>
            <a:ext cx="1148476" cy="778667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301120EA-0808-4748-81EE-9D4658E302D2}"/>
              </a:ext>
            </a:extLst>
          </p:cNvPr>
          <p:cNvSpPr txBox="1"/>
          <p:nvPr/>
        </p:nvSpPr>
        <p:spPr>
          <a:xfrm>
            <a:off x="6985000" y="2481817"/>
            <a:ext cx="494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660900" algn="r"/>
              </a:tabLst>
            </a:pPr>
            <a:r>
              <a:rPr lang="de-CH"/>
              <a:t>Worum geht es?	Mobiliar, Lehrmittel, Essen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C599B65-D6A4-4555-970F-EC9EFAECEFE2}"/>
              </a:ext>
            </a:extLst>
          </p:cNvPr>
          <p:cNvSpPr txBox="1"/>
          <p:nvPr/>
        </p:nvSpPr>
        <p:spPr>
          <a:xfrm>
            <a:off x="6984999" y="3504168"/>
            <a:ext cx="4940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4660900" algn="r"/>
              </a:tabLst>
            </a:pPr>
            <a:r>
              <a:rPr lang="de-CH"/>
              <a:t>Wen betrifft es?	Hauswart, Mensa, Schulleitung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3F4507D-4B77-485B-AB89-4A5BF53D9E36}"/>
              </a:ext>
            </a:extLst>
          </p:cNvPr>
          <p:cNvSpPr txBox="1"/>
          <p:nvPr/>
        </p:nvSpPr>
        <p:spPr>
          <a:xfrm>
            <a:off x="6984998" y="4520686"/>
            <a:ext cx="494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660900" algn="r"/>
              </a:tabLst>
            </a:pPr>
            <a:r>
              <a:rPr lang="de-CH"/>
              <a:t>Wie lautet die Adresse?	Kirchenfeldstrasse 25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D823D2D-E677-4311-8AF4-54BDC5C6B8D9}"/>
              </a:ext>
            </a:extLst>
          </p:cNvPr>
          <p:cNvSpPr txBox="1"/>
          <p:nvPr/>
        </p:nvSpPr>
        <p:spPr>
          <a:xfrm>
            <a:off x="6984998" y="5548870"/>
            <a:ext cx="494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4660900" algn="r"/>
              </a:tabLst>
            </a:pPr>
            <a:r>
              <a:rPr lang="de-CH"/>
              <a:t>Wie wird es transportiert?	Lastwagen, Velokurier</a:t>
            </a:r>
          </a:p>
        </p:txBody>
      </p:sp>
    </p:spTree>
    <p:extLst>
      <p:ext uri="{BB962C8B-B14F-4D97-AF65-F5344CB8AC3E}">
        <p14:creationId xmlns:p14="http://schemas.microsoft.com/office/powerpoint/2010/main" val="72349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EC930-68F2-4DAC-BCD2-902F107D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Schichtenmodell und Protokolle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730E495-2008-4229-8625-44C6D0980710}"/>
              </a:ext>
            </a:extLst>
          </p:cNvPr>
          <p:cNvSpPr/>
          <p:nvPr/>
        </p:nvSpPr>
        <p:spPr>
          <a:xfrm>
            <a:off x="1181100" y="2146300"/>
            <a:ext cx="3390900" cy="1028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Anwendungsschicht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09A8258-6E3C-4294-96CB-7AE6F68E55D9}"/>
              </a:ext>
            </a:extLst>
          </p:cNvPr>
          <p:cNvSpPr/>
          <p:nvPr/>
        </p:nvSpPr>
        <p:spPr>
          <a:xfrm>
            <a:off x="1181100" y="3168651"/>
            <a:ext cx="3390900" cy="10287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Transportschicht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048429-AE3D-4EC3-9B97-636BC9C352C1}"/>
              </a:ext>
            </a:extLst>
          </p:cNvPr>
          <p:cNvSpPr/>
          <p:nvPr/>
        </p:nvSpPr>
        <p:spPr>
          <a:xfrm>
            <a:off x="1181100" y="4191002"/>
            <a:ext cx="3390900" cy="10287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 dirty="0"/>
              <a:t>Vermittlungsschicht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FF25C40-C91D-43F3-BBCD-9F3893A18854}"/>
              </a:ext>
            </a:extLst>
          </p:cNvPr>
          <p:cNvSpPr/>
          <p:nvPr/>
        </p:nvSpPr>
        <p:spPr>
          <a:xfrm>
            <a:off x="1181100" y="5213353"/>
            <a:ext cx="3390900" cy="1028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Physikalische Schicht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04CF06D-EC49-444D-B1F5-B5A0C66DDE65}"/>
              </a:ext>
            </a:extLst>
          </p:cNvPr>
          <p:cNvSpPr/>
          <p:nvPr/>
        </p:nvSpPr>
        <p:spPr>
          <a:xfrm>
            <a:off x="9817100" y="2530475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B3D1C00-C2BE-4407-946E-0F897748F6A6}"/>
              </a:ext>
            </a:extLst>
          </p:cNvPr>
          <p:cNvSpPr/>
          <p:nvPr/>
        </p:nvSpPr>
        <p:spPr>
          <a:xfrm>
            <a:off x="9817100" y="3552826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1136D82-5FC3-4FF6-BBBD-0BC3E65FD717}"/>
              </a:ext>
            </a:extLst>
          </p:cNvPr>
          <p:cNvSpPr/>
          <p:nvPr/>
        </p:nvSpPr>
        <p:spPr>
          <a:xfrm>
            <a:off x="9817100" y="4575177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447B344-3684-4FEE-8AD2-843ACB31EE55}"/>
              </a:ext>
            </a:extLst>
          </p:cNvPr>
          <p:cNvSpPr/>
          <p:nvPr/>
        </p:nvSpPr>
        <p:spPr>
          <a:xfrm>
            <a:off x="9817100" y="5597528"/>
            <a:ext cx="1972820" cy="6413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Daten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5426E3-35A1-403F-B187-33A2E461C54C}"/>
              </a:ext>
            </a:extLst>
          </p:cNvPr>
          <p:cNvSpPr/>
          <p:nvPr/>
        </p:nvSpPr>
        <p:spPr>
          <a:xfrm>
            <a:off x="8636000" y="3552826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DCC64B1-5888-4303-ACFE-03B46CEC2ED0}"/>
              </a:ext>
            </a:extLst>
          </p:cNvPr>
          <p:cNvSpPr/>
          <p:nvPr/>
        </p:nvSpPr>
        <p:spPr>
          <a:xfrm>
            <a:off x="8636000" y="4575177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D4918B8-80D2-48A5-B391-8A64564398D0}"/>
              </a:ext>
            </a:extLst>
          </p:cNvPr>
          <p:cNvSpPr/>
          <p:nvPr/>
        </p:nvSpPr>
        <p:spPr>
          <a:xfrm>
            <a:off x="8636000" y="5597528"/>
            <a:ext cx="1181100" cy="641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TCP</a:t>
            </a:r>
            <a:br>
              <a:rPr lang="de-CH" sz="2000"/>
            </a:br>
            <a:r>
              <a:rPr lang="de-CH" sz="2000"/>
              <a:t>Ports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2262819-779E-49FF-9726-7C92EEA27CCB}"/>
              </a:ext>
            </a:extLst>
          </p:cNvPr>
          <p:cNvSpPr/>
          <p:nvPr/>
        </p:nvSpPr>
        <p:spPr>
          <a:xfrm>
            <a:off x="7454900" y="4575177"/>
            <a:ext cx="1181100" cy="641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/>
              <a:t>IP</a:t>
            </a:r>
            <a:br>
              <a:rPr lang="de-CH" sz="2000" dirty="0"/>
            </a:br>
            <a:r>
              <a:rPr lang="de-CH" sz="2000" dirty="0"/>
              <a:t>Adressen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A5F7B68-BAE6-480E-83E8-D67026095EA9}"/>
              </a:ext>
            </a:extLst>
          </p:cNvPr>
          <p:cNvSpPr/>
          <p:nvPr/>
        </p:nvSpPr>
        <p:spPr>
          <a:xfrm>
            <a:off x="7454900" y="5597528"/>
            <a:ext cx="1181100" cy="641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/>
              <a:t>IP</a:t>
            </a:r>
            <a:br>
              <a:rPr lang="de-CH" sz="2000"/>
            </a:br>
            <a:r>
              <a:rPr lang="de-CH" sz="2000"/>
              <a:t>Adressen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5351C84-9D31-493F-A25F-22C987A96818}"/>
              </a:ext>
            </a:extLst>
          </p:cNvPr>
          <p:cNvSpPr/>
          <p:nvPr/>
        </p:nvSpPr>
        <p:spPr>
          <a:xfrm>
            <a:off x="6273800" y="5597528"/>
            <a:ext cx="1181100" cy="641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000" dirty="0"/>
              <a:t>MAC</a:t>
            </a:r>
            <a:br>
              <a:rPr lang="de-CH" sz="2000" dirty="0"/>
            </a:br>
            <a:r>
              <a:rPr lang="de-CH" sz="2000" dirty="0"/>
              <a:t>Adressen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4F1C8624-E8B2-49EB-814D-D7C7ABBB2991}"/>
              </a:ext>
            </a:extLst>
          </p:cNvPr>
          <p:cNvSpPr txBox="1"/>
          <p:nvPr/>
        </p:nvSpPr>
        <p:spPr>
          <a:xfrm>
            <a:off x="4597400" y="2481817"/>
            <a:ext cx="1594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Web, E-Mail, …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375E3F6-6C02-4AA9-8274-224A35C27193}"/>
              </a:ext>
            </a:extLst>
          </p:cNvPr>
          <p:cNvSpPr txBox="1"/>
          <p:nvPr/>
        </p:nvSpPr>
        <p:spPr>
          <a:xfrm>
            <a:off x="4597399" y="3504168"/>
            <a:ext cx="38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Übertragungssteuerungsprotokoll (TCP)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D96C823-C82C-4C29-8B33-8CF04359D3A5}"/>
              </a:ext>
            </a:extLst>
          </p:cNvPr>
          <p:cNvSpPr txBox="1"/>
          <p:nvPr/>
        </p:nvSpPr>
        <p:spPr>
          <a:xfrm>
            <a:off x="4597398" y="4520686"/>
            <a:ext cx="215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Internetprotokoll (IP)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F6DF1C7-D2BA-42CE-BA33-91D8DA63DCB8}"/>
              </a:ext>
            </a:extLst>
          </p:cNvPr>
          <p:cNvSpPr txBox="1"/>
          <p:nvPr/>
        </p:nvSpPr>
        <p:spPr>
          <a:xfrm>
            <a:off x="4597398" y="5548870"/>
            <a:ext cx="1697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/>
              <a:t>WLAN, Ethernet</a:t>
            </a:r>
          </a:p>
        </p:txBody>
      </p:sp>
    </p:spTree>
    <p:extLst>
      <p:ext uri="{BB962C8B-B14F-4D97-AF65-F5344CB8AC3E}">
        <p14:creationId xmlns:p14="http://schemas.microsoft.com/office/powerpoint/2010/main" val="184792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2BA2C-B469-4AA4-B1FD-B19458E6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Vorteile des Schichtenmodells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4406C9-84DA-49EF-BAF3-5E3E3296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/>
              <a:t>Aufbau auf bestehenden Schichten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Postsystem funktioniert für Lebensmittel, Möbel, …</a:t>
            </a:r>
            <a:br>
              <a:rPr lang="de-CH">
                <a:sym typeface="Wingdings" panose="05000000000000000000" pitchFamily="2" charset="2"/>
              </a:rPr>
            </a:br>
            <a:endParaRPr lang="de-CH"/>
          </a:p>
          <a:p>
            <a:pPr>
              <a:tabLst>
                <a:tab pos="723900" algn="l"/>
              </a:tabLst>
            </a:pPr>
            <a:r>
              <a:rPr lang="de-CH"/>
              <a:t>Austauschbare Schichten</a:t>
            </a:r>
            <a:br>
              <a:rPr lang="de-CH"/>
            </a:br>
            <a:r>
              <a:rPr lang="de-CH">
                <a:sym typeface="Wingdings" panose="05000000000000000000" pitchFamily="2" charset="2"/>
              </a:rPr>
              <a:t> Anstelle von WLAN kann Mobilfunk oder LAN-Kabel</a:t>
            </a:r>
            <a:br>
              <a:rPr lang="de-CH">
                <a:sym typeface="Wingdings" panose="05000000000000000000" pitchFamily="2" charset="2"/>
              </a:rPr>
            </a:br>
            <a:r>
              <a:rPr lang="de-CH">
                <a:sym typeface="Wingdings" panose="05000000000000000000" pitchFamily="2" charset="2"/>
              </a:rPr>
              <a:t>	verwendet werden (anstelle von Lastwagen können 	Motorräder etc. verwendet werden).</a:t>
            </a:r>
            <a:endParaRPr lang="de-CH"/>
          </a:p>
          <a:p>
            <a:pPr marL="0" indent="0">
              <a:buNone/>
            </a:pP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5147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69B1D-D982-4E26-A4AD-7C326D31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Das Schichtenmodell ist überall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425048-C017-45CF-8559-3737567148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6" t="2222" r="2380" b="2407"/>
          <a:stretch/>
        </p:blipFill>
        <p:spPr>
          <a:xfrm>
            <a:off x="1197934" y="1558488"/>
            <a:ext cx="7160454" cy="47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83CE1-4C96-486C-86D4-7B8016CEC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Wie sehen Internetadressen aus?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19342D-6092-4965-8182-7CE43DC30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IP-Adresse</a:t>
            </a:r>
          </a:p>
          <a:p>
            <a:r>
              <a:rPr lang="de-CH" dirty="0"/>
              <a:t>4 Zahlen à je 8 </a:t>
            </a:r>
            <a:r>
              <a:rPr lang="de-CH" dirty="0" err="1"/>
              <a:t>bit</a:t>
            </a:r>
            <a:r>
              <a:rPr lang="de-CH" dirty="0"/>
              <a:t> (sprich: Zahlen zwischen 0 - 255)</a:t>
            </a:r>
          </a:p>
          <a:p>
            <a:r>
              <a:rPr lang="de-CH" dirty="0"/>
              <a:t>durch Punkte getrennt</a:t>
            </a:r>
          </a:p>
          <a:p>
            <a:r>
              <a:rPr lang="de-CH" dirty="0" err="1"/>
              <a:t>Bsp</a:t>
            </a:r>
            <a:r>
              <a:rPr lang="de-CH" dirty="0"/>
              <a:t>: </a:t>
            </a:r>
            <a:r>
              <a:rPr lang="de-CH" dirty="0">
                <a:latin typeface="Courier New" panose="02070309020205020404" pitchFamily="49" charset="0"/>
                <a:cs typeface="Courier New" panose="02070309020205020404" pitchFamily="49" charset="0"/>
              </a:rPr>
              <a:t>82.197.176.117</a:t>
            </a:r>
            <a:br>
              <a:rPr lang="de-CH" dirty="0"/>
            </a:br>
            <a:endParaRPr lang="de-CH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dirty="0"/>
              <a:t>Nötig für jedes Gerät im Netzwerk</a:t>
            </a:r>
          </a:p>
        </p:txBody>
      </p:sp>
    </p:spTree>
    <p:extLst>
      <p:ext uri="{BB962C8B-B14F-4D97-AF65-F5344CB8AC3E}">
        <p14:creationId xmlns:p14="http://schemas.microsoft.com/office/powerpoint/2010/main" val="221982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Monitor, Elektronik, Bildschirm, Computer enthält.&#10;&#10;Automatisch generierte Beschreibung">
            <a:extLst>
              <a:ext uri="{FF2B5EF4-FFF2-40B4-BE49-F238E27FC236}">
                <a16:creationId xmlns:a16="http://schemas.microsoft.com/office/drawing/2014/main" id="{493B2EC0-0282-4EB7-B66E-F24A995FCD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34" t="56099"/>
          <a:stretch/>
        </p:blipFill>
        <p:spPr>
          <a:xfrm>
            <a:off x="1439291" y="2889250"/>
            <a:ext cx="2581275" cy="13255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2AFCD24-ED37-4FD3-AAAD-EB95CF45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Die eigene IP-Adresse finden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277529-BC16-462C-8D0B-FB11B61595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Windows</a:t>
            </a:r>
          </a:p>
          <a:p>
            <a:r>
              <a:rPr lang="de-CH"/>
              <a:t>Netzwerk-Symbol</a:t>
            </a:r>
          </a:p>
          <a:p>
            <a:endParaRPr lang="de-CH"/>
          </a:p>
          <a:p>
            <a:endParaRPr lang="de-CH"/>
          </a:p>
          <a:p>
            <a:endParaRPr lang="de-CH"/>
          </a:p>
          <a:p>
            <a:r>
              <a:rPr lang="de-CH"/>
              <a:t>Eigenschaften</a:t>
            </a:r>
            <a:br>
              <a:rPr lang="de-CH"/>
            </a:br>
            <a:r>
              <a:rPr lang="de-CH"/>
              <a:t>der</a:t>
            </a:r>
            <a:br>
              <a:rPr lang="de-CH"/>
            </a:br>
            <a:r>
              <a:rPr lang="de-CH"/>
              <a:t>Verbindung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C0CBCDC-3134-4FE8-A8CC-56EF0EADFB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Mac</a:t>
            </a:r>
          </a:p>
          <a:p>
            <a:r>
              <a:rPr lang="de-CH"/>
              <a:t>Systemeinstellungen</a:t>
            </a:r>
          </a:p>
          <a:p>
            <a:r>
              <a:rPr lang="de-CH"/>
              <a:t>Netzwerk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090AFB-C07E-45AF-A06D-2C1955FDDEA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6" t="2839"/>
          <a:stretch/>
        </p:blipFill>
        <p:spPr>
          <a:xfrm>
            <a:off x="3950823" y="3878769"/>
            <a:ext cx="1896412" cy="2380236"/>
          </a:xfrm>
          <a:prstGeom prst="rect">
            <a:avLst/>
          </a:prstGeom>
        </p:spPr>
      </p:pic>
      <p:pic>
        <p:nvPicPr>
          <p:cNvPr id="11" name="Grafik 10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5D28F459-E7B9-49C6-A35B-DD3450FC4B2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470" b="23867"/>
          <a:stretch/>
        </p:blipFill>
        <p:spPr>
          <a:xfrm>
            <a:off x="4237038" y="4430691"/>
            <a:ext cx="423322" cy="63819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BC2071D-D41A-410C-A570-DFE5F1F0B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798" y="3659965"/>
            <a:ext cx="4414064" cy="14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02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0308E-2284-4E91-B901-57D1F293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Die eigene IP-Adresse finden (Alternative)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D2BB13-22E7-4F9C-9B88-569BA76485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/>
              <a:t>Windows</a:t>
            </a:r>
          </a:p>
          <a:p>
            <a:r>
              <a:rPr lang="de-CH"/>
              <a:t>Eingabeaufforderung öffnen</a:t>
            </a:r>
          </a:p>
          <a:p>
            <a:r>
              <a:rPr lang="de-CH"/>
              <a:t>Befehl: </a:t>
            </a:r>
            <a:r>
              <a:rPr lang="de-CH" err="1">
                <a:latin typeface="Courier New" panose="02070309020205020404" pitchFamily="49" charset="0"/>
                <a:cs typeface="Courier New" panose="02070309020205020404" pitchFamily="49" charset="0"/>
              </a:rPr>
              <a:t>ipconfig</a:t>
            </a:r>
            <a:endParaRPr lang="de-CH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/>
              <a:t>IP-Adresse in der Ausgabe suchen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A80322-5D42-4297-9F92-138C17CE1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Mac/Linux</a:t>
            </a:r>
          </a:p>
          <a:p>
            <a:r>
              <a:rPr lang="de-CH" dirty="0"/>
              <a:t>Terminal (unter Dienst-programme) öffnen</a:t>
            </a:r>
          </a:p>
          <a:p>
            <a:r>
              <a:rPr lang="de-CH" dirty="0"/>
              <a:t>Befehl: </a:t>
            </a:r>
            <a: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  <a:t>ifconfig</a:t>
            </a:r>
            <a:endParaRPr lang="de-CH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CH" dirty="0"/>
              <a:t>IP-Adresse in der Ausgabe suchen</a:t>
            </a:r>
          </a:p>
        </p:txBody>
      </p:sp>
    </p:spTree>
    <p:extLst>
      <p:ext uri="{BB962C8B-B14F-4D97-AF65-F5344CB8AC3E}">
        <p14:creationId xmlns:p14="http://schemas.microsoft.com/office/powerpoint/2010/main" val="1165822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FA43367-EDEA-4D11-809B-A0B81710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IP-Adresse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D8A321-CDDC-4564-AF26-527A4CB3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20" y="365124"/>
            <a:ext cx="7174768" cy="3698875"/>
          </a:xfrm>
          <a:prstGeom prst="rect">
            <a:avLst/>
          </a:prstGeom>
        </p:spPr>
      </p:pic>
      <p:sp>
        <p:nvSpPr>
          <p:cNvPr id="7" name="Denkblase: wolkenförmig 6">
            <a:extLst>
              <a:ext uri="{FF2B5EF4-FFF2-40B4-BE49-F238E27FC236}">
                <a16:creationId xmlns:a16="http://schemas.microsoft.com/office/drawing/2014/main" id="{12B0C84C-ECD3-4FA3-89E7-DBE03AE1E1E4}"/>
              </a:ext>
            </a:extLst>
          </p:cNvPr>
          <p:cNvSpPr/>
          <p:nvPr/>
        </p:nvSpPr>
        <p:spPr>
          <a:xfrm>
            <a:off x="354012" y="1690688"/>
            <a:ext cx="3162300" cy="1765300"/>
          </a:xfrm>
          <a:prstGeom prst="cloudCallout">
            <a:avLst>
              <a:gd name="adj1" fmla="val 93223"/>
              <a:gd name="adj2" fmla="val 21493"/>
            </a:avLst>
          </a:prstGeom>
          <a:solidFill>
            <a:srgbClr val="F888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Meine IP-Adresse</a:t>
            </a:r>
          </a:p>
        </p:txBody>
      </p:sp>
      <p:sp>
        <p:nvSpPr>
          <p:cNvPr id="8" name="Denkblase: wolkenförmig 7">
            <a:extLst>
              <a:ext uri="{FF2B5EF4-FFF2-40B4-BE49-F238E27FC236}">
                <a16:creationId xmlns:a16="http://schemas.microsoft.com/office/drawing/2014/main" id="{C7AE3322-513E-4E8C-97E4-06C284EF5567}"/>
              </a:ext>
            </a:extLst>
          </p:cNvPr>
          <p:cNvSpPr/>
          <p:nvPr/>
        </p:nvSpPr>
        <p:spPr>
          <a:xfrm>
            <a:off x="3516312" y="4825204"/>
            <a:ext cx="3162300" cy="1765300"/>
          </a:xfrm>
          <a:prstGeom prst="cloudCallout">
            <a:avLst>
              <a:gd name="adj1" fmla="val 19729"/>
              <a:gd name="adj2" fmla="val -120953"/>
            </a:avLst>
          </a:prstGeom>
          <a:solidFill>
            <a:srgbClr val="5DA2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2400"/>
              <a:t>Nächstes Verteilzentrum (Router)</a:t>
            </a:r>
          </a:p>
        </p:txBody>
      </p:sp>
    </p:spTree>
    <p:extLst>
      <p:ext uri="{BB962C8B-B14F-4D97-AF65-F5344CB8AC3E}">
        <p14:creationId xmlns:p14="http://schemas.microsoft.com/office/powerpoint/2010/main" val="1583825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2167C-9514-4A9D-9F93-29E04957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– Eigene IP-Adresse finden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46D3D1-2EBB-4704-8738-97CB366B6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Eintragen in XLS-Datei auf Teams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94433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CA94B-91E2-495B-8823-E4FDD039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Ping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6EFBEDF-EB7C-46D9-A6B6-0DFDE947A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Netzwerkdiagnose-Tool</a:t>
            </a:r>
          </a:p>
          <a:p>
            <a:r>
              <a:rPr lang="de-CH" dirty="0"/>
              <a:t>Prüft die Datenübertragung</a:t>
            </a:r>
          </a:p>
          <a:p>
            <a:r>
              <a:rPr lang="de-CH" dirty="0"/>
              <a:t>Achtung: Kann von einer Firewall auch unterbunden werden</a:t>
            </a:r>
            <a:br>
              <a:rPr lang="de-CH" dirty="0"/>
            </a:br>
            <a:endParaRPr lang="de-CH" dirty="0"/>
          </a:p>
          <a:p>
            <a:r>
              <a:rPr lang="de-CH" dirty="0"/>
              <a:t>Befehl: </a:t>
            </a:r>
            <a:r>
              <a:rPr lang="de-CH">
                <a:latin typeface="Courier New" panose="02070309020205020404" pitchFamily="49" charset="0"/>
                <a:cs typeface="Courier New" panose="02070309020205020404" pitchFamily="49" charset="0"/>
              </a:rPr>
              <a:t>ping 82.197.</a:t>
            </a:r>
            <a:r>
              <a:rPr lang="en-GB">
                <a:latin typeface="Courier New" panose="02070309020205020404" pitchFamily="49" charset="0"/>
                <a:cs typeface="Courier New" panose="02070309020205020404" pitchFamily="49" charset="0"/>
              </a:rPr>
              <a:t>176.117</a:t>
            </a:r>
            <a:endParaRPr lang="de-CH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2161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C4CFBA-9A8A-4830-9BB3-66588C45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Was ist Ping?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AC787E-6247-44BF-AD1F-BAD74AF57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Herkunft</a:t>
            </a:r>
          </a:p>
          <a:p>
            <a:pPr lvl="1"/>
            <a:r>
              <a:rPr lang="de-CH" dirty="0"/>
              <a:t>2. Weltkrieg</a:t>
            </a:r>
          </a:p>
          <a:p>
            <a:pPr lvl="1"/>
            <a:r>
              <a:rPr lang="de-CH" dirty="0"/>
              <a:t>Sonar zum Aufspüren von U-Booten</a:t>
            </a:r>
          </a:p>
          <a:p>
            <a:pPr lvl="1"/>
            <a:r>
              <a:rPr lang="de-CH" dirty="0"/>
              <a:t>Ausgesandtes Schallsignal tönt wie «ping»</a:t>
            </a:r>
          </a:p>
          <a:p>
            <a:pPr lvl="1"/>
            <a:r>
              <a:rPr lang="de-CH" dirty="0"/>
              <a:t>Trifft das Signal auf ein U-Boot, wird es reflektiert</a:t>
            </a:r>
          </a:p>
          <a:p>
            <a:pPr lvl="1"/>
            <a:r>
              <a:rPr lang="de-CH"/>
              <a:t>Video: </a:t>
            </a:r>
            <a:r>
              <a:rPr lang="de-CH">
                <a:hlinkClick r:id="rId3"/>
              </a:rPr>
              <a:t>https://www.youtube.com/watch?v=_YFXdDppLw0</a:t>
            </a:r>
            <a:endParaRPr lang="de-CH"/>
          </a:p>
          <a:p>
            <a:r>
              <a:rPr lang="de-CH" dirty="0"/>
              <a:t>Programm sendet Signal aus</a:t>
            </a:r>
          </a:p>
          <a:p>
            <a:r>
              <a:rPr lang="de-CH" dirty="0"/>
              <a:t>Entfernter Computer antwortet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03429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6F0C1-54D0-491A-8359-AFA34EF1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Aufgaben – Ping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FBA112-8D47-4125-A4FD-013B78BB5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dirty="0"/>
              <a:t>Führen Sie Ping mit folgenden IP-Adressen aus</a:t>
            </a:r>
          </a:p>
          <a:p>
            <a:pPr lvl="1"/>
            <a:r>
              <a:rPr lang="en-CH" dirty="0"/>
              <a:t>82.197.176.117</a:t>
            </a:r>
          </a:p>
          <a:p>
            <a:pPr lvl="1"/>
            <a:r>
              <a:rPr lang="de-CH" dirty="0"/>
              <a:t>8.8.8.8</a:t>
            </a:r>
          </a:p>
          <a:p>
            <a:pPr lvl="1"/>
            <a:r>
              <a:rPr lang="de-CH" dirty="0"/>
              <a:t>185.237.144.226</a:t>
            </a:r>
          </a:p>
          <a:p>
            <a:pPr lvl="1"/>
            <a:r>
              <a:rPr lang="de-CH" dirty="0"/>
              <a:t>194.150.245.142</a:t>
            </a:r>
          </a:p>
          <a:p>
            <a:pPr lvl="1"/>
            <a:r>
              <a:rPr lang="de-CH" dirty="0"/>
              <a:t>123.194.387.14</a:t>
            </a:r>
          </a:p>
          <a:p>
            <a:pPr lvl="1"/>
            <a:r>
              <a:rPr lang="de-CH" dirty="0"/>
              <a:t>IP-Adresse Ihres Pultnachbars</a:t>
            </a:r>
          </a:p>
          <a:p>
            <a:r>
              <a:rPr lang="de-CH" dirty="0"/>
              <a:t>Was bedeutet die Ausgabe?</a:t>
            </a:r>
          </a:p>
          <a:p>
            <a:r>
              <a:rPr lang="de-CH" dirty="0"/>
              <a:t>Wieso gibt es Unterschiede?</a:t>
            </a:r>
          </a:p>
        </p:txBody>
      </p:sp>
    </p:spTree>
    <p:extLst>
      <p:ext uri="{BB962C8B-B14F-4D97-AF65-F5344CB8AC3E}">
        <p14:creationId xmlns:p14="http://schemas.microsoft.com/office/powerpoint/2010/main" val="3112977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09EF2-BBFF-4C04-BFF5-2FE5B83C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https://whatsmyip.org/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EC1E475-18CE-466C-9278-247EE537E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08112"/>
            <a:ext cx="105918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78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2167C-9514-4A9D-9F93-29E04957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auf nächste Woche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46D3D1-2EBB-4704-8738-97CB366B6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IP-Adresse des Notebooks zu Hause nachschauen</a:t>
            </a:r>
          </a:p>
          <a:p>
            <a:r>
              <a:rPr lang="de-DE" dirty="0"/>
              <a:t>IP-Adresse auf </a:t>
            </a:r>
            <a:r>
              <a:rPr lang="de-DE" dirty="0">
                <a:hlinkClick r:id="rId2"/>
              </a:rPr>
              <a:t>https://whatsmyip.org/</a:t>
            </a:r>
            <a:r>
              <a:rPr lang="de-DE" dirty="0"/>
              <a:t> zu Hause nachschauen</a:t>
            </a:r>
          </a:p>
          <a:p>
            <a:r>
              <a:rPr lang="de-DE" dirty="0"/>
              <a:t>Beides eintragen in XLS-Datei auf Teams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4497359"/>
      </p:ext>
    </p:extLst>
  </p:cSld>
  <p:clrMapOvr>
    <a:masterClrMapping/>
  </p:clrMapOvr>
</p:sld>
</file>

<file path=ppt/theme/theme1.xml><?xml version="1.0" encoding="utf-8"?>
<a:theme xmlns:a="http://schemas.openxmlformats.org/drawingml/2006/main" name="kinet">
  <a:themeElements>
    <a:clrScheme name="gymkirchenfel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66666"/>
      </a:accent1>
      <a:accent2>
        <a:srgbClr val="3248B5"/>
      </a:accent2>
      <a:accent3>
        <a:srgbClr val="41A7D1"/>
      </a:accent3>
      <a:accent4>
        <a:srgbClr val="74BF3D"/>
      </a:accent4>
      <a:accent5>
        <a:srgbClr val="FBA300"/>
      </a:accent5>
      <a:accent6>
        <a:srgbClr val="E8CC0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net" id="{EF483BFC-D895-4E45-826B-CFA4A4B447FB}" vid="{361AE8B0-6FD3-4BC5-969C-C3DAFE52FD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kinet</Template>
  <TotalTime>0</TotalTime>
  <Words>1101</Words>
  <Application>Microsoft Office PowerPoint</Application>
  <PresentationFormat>Breitbild</PresentationFormat>
  <Paragraphs>181</Paragraphs>
  <Slides>21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Arimo</vt:lpstr>
      <vt:lpstr>Calibri</vt:lpstr>
      <vt:lpstr>Courier New</vt:lpstr>
      <vt:lpstr>Wingdings</vt:lpstr>
      <vt:lpstr>kinet</vt:lpstr>
      <vt:lpstr>Schichtenmodell und IP-Adressen</vt:lpstr>
      <vt:lpstr>Rechnernetze – Wie kommunizieren Geräte?</vt:lpstr>
      <vt:lpstr>Beispiel Paketversand</vt:lpstr>
      <vt:lpstr>PowerPoint-Präsentation</vt:lpstr>
      <vt:lpstr>PowerPoint-Präsentation</vt:lpstr>
      <vt:lpstr>PowerPoint-Präsentation</vt:lpstr>
      <vt:lpstr>PowerPoint-Präsentation</vt:lpstr>
      <vt:lpstr>Schichtenmodell</vt:lpstr>
      <vt:lpstr>Schichtenmodell und Protokolle</vt:lpstr>
      <vt:lpstr>Vorteile des Schichtenmodells</vt:lpstr>
      <vt:lpstr>Das Schichtenmodell ist überall</vt:lpstr>
      <vt:lpstr>Wie sehen Internetadressen aus?</vt:lpstr>
      <vt:lpstr>Die eigene IP-Adresse finden</vt:lpstr>
      <vt:lpstr>Die eigene IP-Adresse finden (Alternative)</vt:lpstr>
      <vt:lpstr>IP-Adresse</vt:lpstr>
      <vt:lpstr>Aufgabe – Eigene IP-Adresse finden</vt:lpstr>
      <vt:lpstr>Ping</vt:lpstr>
      <vt:lpstr>Was ist Ping?</vt:lpstr>
      <vt:lpstr>Aufgaben – Ping</vt:lpstr>
      <vt:lpstr>https://whatsmyip.org/</vt:lpstr>
      <vt:lpstr>Aufgabe auf nächste Woche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Schichtenmodell und IP-Adressen</dc:title>
  <dc:creator>Jampen Thomas</dc:creator>
  <cp:lastModifiedBy>Jampen Tom</cp:lastModifiedBy>
  <cp:revision>9</cp:revision>
  <dcterms:created xsi:type="dcterms:W3CDTF">2021-08-07T15:00:43Z</dcterms:created>
  <dcterms:modified xsi:type="dcterms:W3CDTF">2024-08-20T10:01:05Z</dcterms:modified>
</cp:coreProperties>
</file>
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tiff" ContentType="image/tif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83" r:id="rId3"/>
    <p:sldId id="285" r:id="rId4"/>
    <p:sldId id="287" r:id="rId5"/>
    <p:sldId id="288" r:id="rId6"/>
    <p:sldId id="284" r:id="rId7"/>
    <p:sldId id="305" r:id="rId8"/>
    <p:sldId id="313" r:id="rId9"/>
    <p:sldId id="307" r:id="rId10"/>
    <p:sldId id="306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Standardabschnitt" id="{E3A43F07-73C1-40BE-B1BB-87E8CB4ED763}">
          <p14:sldIdLst>
            <p14:sldId id="256"/>
          </p14:sldIdLst>
        </p14:section>
        <p14:section name="Protokolle" id="{535630F1-9E14-466F-A8AD-BF063E3C8D89}">
          <p14:sldIdLst>
            <p14:sldId id="283"/>
            <p14:sldId id="285"/>
            <p14:sldId id="287"/>
            <p14:sldId id="288"/>
            <p14:sldId id="284"/>
            <p14:sldId id="305"/>
            <p14:sldId id="313"/>
            <p14:sldId id="307"/>
            <p14:sldId id="306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538C2A"/>
    <a:srgbClr val="223284"/>
    <a:srgbClr val="B977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109" d="100"/>
          <a:sy n="109" d="100"/>
        </p:scale>
        <p:origin x="588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CH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A246274-3044-45D2-90CA-DB5E3F46B406}" type="datetimeFigureOut">
              <a:rPr lang="de-CH" smtClean="0"/>
              <a:t>15.08.2022</a:t>
            </a:fld>
            <a:endParaRPr lang="de-CH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CH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CH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1FF7675-6A4E-4ED7-8F76-CBB10741E575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251844594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088862B-F95B-4002-9EC3-24C5F774C47C}" type="slidenum">
              <a:rPr lang="de-CH" smtClean="0"/>
              <a:t>6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68149684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  <a:endParaRPr lang="de-CH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  <a:endParaRPr lang="de-CH" dirty="0"/>
          </a:p>
        </p:txBody>
      </p:sp>
    </p:spTree>
    <p:extLst>
      <p:ext uri="{BB962C8B-B14F-4D97-AF65-F5344CB8AC3E}">
        <p14:creationId xmlns:p14="http://schemas.microsoft.com/office/powerpoint/2010/main" val="4019865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de-CH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 dirty="0"/>
          </a:p>
        </p:txBody>
      </p:sp>
    </p:spTree>
    <p:extLst>
      <p:ext uri="{BB962C8B-B14F-4D97-AF65-F5344CB8AC3E}">
        <p14:creationId xmlns:p14="http://schemas.microsoft.com/office/powerpoint/2010/main" val="180092758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el und 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de-CH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2450"/>
            <a:ext cx="5225374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 dirty="0"/>
          </a:p>
        </p:txBody>
      </p:sp>
      <p:sp>
        <p:nvSpPr>
          <p:cNvPr id="5" name="Inhaltsplatzhalter 4"/>
          <p:cNvSpPr>
            <a:spLocks noGrp="1"/>
          </p:cNvSpPr>
          <p:nvPr>
            <p:ph sz="quarter" idx="10"/>
          </p:nvPr>
        </p:nvSpPr>
        <p:spPr>
          <a:xfrm>
            <a:off x="6128426" y="1825625"/>
            <a:ext cx="5225374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 dirty="0"/>
          </a:p>
        </p:txBody>
      </p:sp>
    </p:spTree>
    <p:extLst>
      <p:ext uri="{BB962C8B-B14F-4D97-AF65-F5344CB8AC3E}">
        <p14:creationId xmlns:p14="http://schemas.microsoft.com/office/powerpoint/2010/main" val="33233335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88398443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C32D25B1-CC8C-4BA7-BD63-D1F34AE67B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5910F3-641C-445E-8A76-482B494B7682}" type="datetimeFigureOut">
              <a:rPr lang="de-CH" smtClean="0"/>
              <a:t>15.08.2022</a:t>
            </a:fld>
            <a:endParaRPr lang="de-CH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9E4781F8-334D-405C-B9AE-8A9322FA60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15FC0E67-7FD6-4C3C-B2B2-4B208C4FAD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977E4B-A32C-4B5D-B765-05F5214636DA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30343173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tiff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 dirty="0"/>
              <a:t>Titelmasterformat durch Klicken bearbeiten</a:t>
            </a:r>
            <a:endParaRPr lang="de-CH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 dirty="0"/>
              <a:t>Formatvorlagen des Textmasters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  <a:endParaRPr lang="de-CH" dirty="0"/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12192000" cy="6387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57678" y="209783"/>
            <a:ext cx="264572" cy="279478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9072284" y="6793201"/>
            <a:ext cx="779929" cy="648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sp>
        <p:nvSpPr>
          <p:cNvPr id="10" name="Rectangle 9"/>
          <p:cNvSpPr/>
          <p:nvPr/>
        </p:nvSpPr>
        <p:spPr>
          <a:xfrm>
            <a:off x="9852213" y="6793200"/>
            <a:ext cx="779929" cy="648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sp>
        <p:nvSpPr>
          <p:cNvPr id="11" name="Rectangle 10"/>
          <p:cNvSpPr/>
          <p:nvPr/>
        </p:nvSpPr>
        <p:spPr>
          <a:xfrm>
            <a:off x="10632142" y="6793200"/>
            <a:ext cx="779929" cy="648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sp>
        <p:nvSpPr>
          <p:cNvPr id="12" name="Rectangle 11"/>
          <p:cNvSpPr/>
          <p:nvPr/>
        </p:nvSpPr>
        <p:spPr>
          <a:xfrm>
            <a:off x="11412071" y="6793200"/>
            <a:ext cx="779929" cy="648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19644086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2" r:id="rId3"/>
    <p:sldLayoutId id="2147483651" r:id="rId4"/>
    <p:sldLayoutId id="2147483653" r:id="rId5"/>
  </p:sldLayoutIdLst>
  <p:hf sldNum="0"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>
              <a:lumMod val="75000"/>
              <a:lumOff val="25000"/>
            </a:schemeClr>
          </a:solidFill>
          <a:latin typeface="Arimo" charset="0"/>
          <a:ea typeface="Arimo" charset="0"/>
          <a:cs typeface="Arimo" charset="0"/>
        </a:defRPr>
      </a:lvl1pPr>
    </p:titleStyle>
    <p:bodyStyle>
      <a:lvl1pPr marL="360363" indent="-360363" algn="l" defTabSz="914400" rtl="0" eaLnBrk="1" latinLnBrk="0" hangingPunct="1">
        <a:lnSpc>
          <a:spcPct val="90000"/>
        </a:lnSpc>
        <a:spcBef>
          <a:spcPts val="1000"/>
        </a:spcBef>
        <a:buClr>
          <a:schemeClr val="tx1">
            <a:lumMod val="75000"/>
            <a:lumOff val="25000"/>
          </a:schemeClr>
        </a:buClr>
        <a:buFont typeface="Arial"/>
        <a:buChar char="•"/>
        <a:defRPr sz="3200" kern="1200">
          <a:solidFill>
            <a:schemeClr val="tx1">
              <a:lumMod val="75000"/>
              <a:lumOff val="25000"/>
            </a:schemeClr>
          </a:solidFill>
          <a:latin typeface="Arimo" charset="0"/>
          <a:ea typeface="Arimo" charset="0"/>
          <a:cs typeface="Arimo" charset="0"/>
        </a:defRPr>
      </a:lvl1pPr>
      <a:lvl2pPr marL="808038" indent="-350838" algn="l" defTabSz="914400" rtl="0" eaLnBrk="1" latinLnBrk="0" hangingPunct="1">
        <a:lnSpc>
          <a:spcPct val="90000"/>
        </a:lnSpc>
        <a:spcBef>
          <a:spcPts val="500"/>
        </a:spcBef>
        <a:buClr>
          <a:schemeClr val="tx1">
            <a:lumMod val="75000"/>
            <a:lumOff val="25000"/>
          </a:schemeClr>
        </a:buClr>
        <a:buFont typeface="Arial"/>
        <a:buChar char="•"/>
        <a:defRPr sz="2800" kern="1200">
          <a:solidFill>
            <a:schemeClr val="tx1">
              <a:lumMod val="75000"/>
              <a:lumOff val="25000"/>
            </a:schemeClr>
          </a:solidFill>
          <a:latin typeface="Arimo" charset="0"/>
          <a:ea typeface="Arimo" charset="0"/>
          <a:cs typeface="Arimo" charset="0"/>
        </a:defRPr>
      </a:lvl2pPr>
      <a:lvl3pPr marL="1254125" indent="-339725" algn="l" defTabSz="914400" rtl="0" eaLnBrk="1" latinLnBrk="0" hangingPunct="1">
        <a:lnSpc>
          <a:spcPct val="90000"/>
        </a:lnSpc>
        <a:spcBef>
          <a:spcPts val="500"/>
        </a:spcBef>
        <a:buClr>
          <a:schemeClr val="tx1">
            <a:lumMod val="75000"/>
            <a:lumOff val="25000"/>
          </a:schemeClr>
        </a:buClr>
        <a:buFont typeface="Arial"/>
        <a:buChar char="•"/>
        <a:defRPr sz="2400" kern="1200">
          <a:solidFill>
            <a:schemeClr val="tx1">
              <a:lumMod val="75000"/>
              <a:lumOff val="25000"/>
            </a:schemeClr>
          </a:solidFill>
          <a:latin typeface="Arimo" charset="0"/>
          <a:ea typeface="Arimo" charset="0"/>
          <a:cs typeface="Arimo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tx1">
            <a:lumMod val="75000"/>
            <a:lumOff val="25000"/>
          </a:schemeClr>
        </a:buClr>
        <a:buFont typeface="Arial"/>
        <a:buChar char="•"/>
        <a:defRPr sz="2000" kern="1200">
          <a:solidFill>
            <a:schemeClr val="tx1">
              <a:lumMod val="75000"/>
              <a:lumOff val="25000"/>
            </a:schemeClr>
          </a:solidFill>
          <a:latin typeface="Arimo" charset="0"/>
          <a:ea typeface="Arimo" charset="0"/>
          <a:cs typeface="Arimo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tx1">
            <a:lumMod val="75000"/>
            <a:lumOff val="25000"/>
          </a:schemeClr>
        </a:buClr>
        <a:buFont typeface="Arial"/>
        <a:buChar char="•"/>
        <a:defRPr sz="1800" kern="1200">
          <a:solidFill>
            <a:schemeClr val="tx1">
              <a:lumMod val="75000"/>
              <a:lumOff val="25000"/>
            </a:schemeClr>
          </a:solidFill>
          <a:latin typeface="Arimo" charset="0"/>
          <a:ea typeface="Arimo" charset="0"/>
          <a:cs typeface="Arimo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5D6E69B-71B2-4877-9348-B3BA840C0C6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de-DE" dirty="0"/>
              <a:t>Protokolle</a:t>
            </a:r>
            <a:endParaRPr lang="de-CH" dirty="0"/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63FB49DA-4C9F-4515-B240-D9DBFDBB778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de-DE" dirty="0"/>
              <a:t>Gymnasium Kirchenfeld</a:t>
            </a:r>
            <a:endParaRPr lang="de-CH" dirty="0"/>
          </a:p>
        </p:txBody>
      </p:sp>
    </p:spTree>
    <p:extLst>
      <p:ext uri="{BB962C8B-B14F-4D97-AF65-F5344CB8AC3E}">
        <p14:creationId xmlns:p14="http://schemas.microsoft.com/office/powerpoint/2010/main" val="341655977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C3E3476-35E5-4242-9C80-5F9ED84074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CH"/>
              <a:t>Was ist ein Netzwerkprotokoll?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C081C34E-6FA0-4677-9DE2-F07B26DC981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de-CH"/>
              <a:t>Ein Netzwerkprotokoll</a:t>
            </a:r>
          </a:p>
          <a:p>
            <a:r>
              <a:rPr lang="de-CH"/>
              <a:t>definiert Ablauf einer Kommunikation</a:t>
            </a:r>
          </a:p>
          <a:p>
            <a:r>
              <a:rPr lang="de-CH"/>
              <a:t>definiert den Aufbau der Datenpakete</a:t>
            </a:r>
          </a:p>
          <a:p>
            <a:r>
              <a:rPr lang="de-CH"/>
              <a:t>wird von Computern/Prozessen verwendet</a:t>
            </a:r>
          </a:p>
          <a:p>
            <a:r>
              <a:rPr lang="de-CH"/>
              <a:t>gibt es auf jeder Ebene des Schichtenmodells</a:t>
            </a:r>
          </a:p>
          <a:p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176579135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0A066EE-298A-4847-8CDE-D0E341569B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CH"/>
              <a:t>Protokolle bei uns Menschen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B41D0E5D-E40C-4474-A8DE-F53B85EBA28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marL="0" indent="0">
              <a:buNone/>
              <a:tabLst>
                <a:tab pos="9779000" algn="r"/>
              </a:tabLst>
            </a:pPr>
            <a:r>
              <a:rPr lang="de-CH"/>
              <a:t>Aufgabe: </a:t>
            </a:r>
            <a:r>
              <a:rPr lang="de-CH" b="1"/>
              <a:t>Nach der Zeit fragen</a:t>
            </a:r>
          </a:p>
          <a:p>
            <a:pPr marL="0" indent="0">
              <a:buNone/>
              <a:tabLst>
                <a:tab pos="9779000" algn="r"/>
              </a:tabLst>
            </a:pPr>
            <a:endParaRPr lang="de-CH"/>
          </a:p>
          <a:p>
            <a:pPr marL="0" indent="0">
              <a:buNone/>
              <a:tabLst>
                <a:tab pos="9779000" algn="r"/>
              </a:tabLst>
            </a:pPr>
            <a:r>
              <a:rPr lang="de-CH"/>
              <a:t>«Guten Tag, darf ich Sie etwas fragen?»</a:t>
            </a:r>
          </a:p>
          <a:p>
            <a:pPr marL="0" indent="0">
              <a:buNone/>
              <a:tabLst>
                <a:tab pos="9779000" algn="r"/>
              </a:tabLst>
            </a:pPr>
            <a:r>
              <a:rPr lang="de-CH"/>
              <a:t>	«Hallo, klar, schiessen Sie los!»</a:t>
            </a:r>
          </a:p>
          <a:p>
            <a:pPr marL="0" indent="0">
              <a:buNone/>
              <a:tabLst>
                <a:tab pos="9779000" algn="r"/>
              </a:tabLst>
            </a:pPr>
            <a:r>
              <a:rPr lang="de-CH"/>
              <a:t>«Wie spät ist es?»</a:t>
            </a:r>
          </a:p>
          <a:p>
            <a:pPr marL="0" indent="0">
              <a:buNone/>
              <a:tabLst>
                <a:tab pos="9779000" algn="r"/>
              </a:tabLst>
            </a:pPr>
            <a:r>
              <a:rPr lang="de-CH"/>
              <a:t>	«Es ist 14:15 Uhr.»</a:t>
            </a:r>
          </a:p>
          <a:p>
            <a:pPr marL="0" indent="0">
              <a:buNone/>
              <a:tabLst>
                <a:tab pos="9779000" algn="r"/>
              </a:tabLst>
            </a:pPr>
            <a:r>
              <a:rPr lang="de-CH"/>
              <a:t>«Entschuldigung, ich habe Sie nicht verstanden.»</a:t>
            </a:r>
          </a:p>
          <a:p>
            <a:pPr marL="0" indent="0">
              <a:buNone/>
              <a:tabLst>
                <a:tab pos="9779000" algn="r"/>
              </a:tabLst>
            </a:pPr>
            <a:r>
              <a:rPr lang="de-CH"/>
              <a:t>	«Es ist 14:15 Uhr.»</a:t>
            </a:r>
          </a:p>
          <a:p>
            <a:pPr marL="0" indent="0">
              <a:buNone/>
              <a:tabLst>
                <a:tab pos="9779000" algn="r"/>
              </a:tabLst>
            </a:pPr>
            <a:r>
              <a:rPr lang="de-CH"/>
              <a:t>«Danke und einen schönen Tag, tschüss.»</a:t>
            </a:r>
          </a:p>
          <a:p>
            <a:pPr marL="0" indent="0">
              <a:buNone/>
              <a:tabLst>
                <a:tab pos="9779000" algn="r"/>
              </a:tabLst>
            </a:pPr>
            <a:r>
              <a:rPr lang="de-CH"/>
              <a:t>	«Kein Problem, Ihnen auch, wiedersehen!»</a:t>
            </a:r>
          </a:p>
        </p:txBody>
      </p:sp>
      <p:sp>
        <p:nvSpPr>
          <p:cNvPr id="4" name="Denkblase: wolkenförmig 3">
            <a:extLst>
              <a:ext uri="{FF2B5EF4-FFF2-40B4-BE49-F238E27FC236}">
                <a16:creationId xmlns:a16="http://schemas.microsoft.com/office/drawing/2014/main" id="{214B62BC-8F0D-4CD6-B0B9-B0FB6CB685B0}"/>
              </a:ext>
            </a:extLst>
          </p:cNvPr>
          <p:cNvSpPr/>
          <p:nvPr/>
        </p:nvSpPr>
        <p:spPr>
          <a:xfrm>
            <a:off x="7658100" y="161925"/>
            <a:ext cx="4406900" cy="2225675"/>
          </a:xfrm>
          <a:prstGeom prst="cloudCallout">
            <a:avLst>
              <a:gd name="adj1" fmla="val -66942"/>
              <a:gd name="adj2" fmla="val 64212"/>
            </a:avLst>
          </a:prstGeom>
          <a:solidFill>
            <a:schemeClr val="accent3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CH" sz="2400" dirty="0"/>
              <a:t>Wir fragen nicht direkt, wir begrüssen uns zuerst …</a:t>
            </a:r>
          </a:p>
        </p:txBody>
      </p:sp>
    </p:spTree>
    <p:extLst>
      <p:ext uri="{BB962C8B-B14F-4D97-AF65-F5344CB8AC3E}">
        <p14:creationId xmlns:p14="http://schemas.microsoft.com/office/powerpoint/2010/main" val="33656063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4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0A066EE-298A-4847-8CDE-D0E341569B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CH"/>
              <a:t>Protokolle bei uns Menschen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B41D0E5D-E40C-4474-A8DE-F53B85EBA28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85850" y="1825625"/>
            <a:ext cx="7842250" cy="4351338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  <a:tabLst>
                <a:tab pos="9779000" algn="r"/>
              </a:tabLst>
            </a:pPr>
            <a:endParaRPr lang="de-CH" b="1" dirty="0"/>
          </a:p>
          <a:p>
            <a:pPr marL="0" indent="0">
              <a:buNone/>
              <a:tabLst>
                <a:tab pos="9779000" algn="r"/>
              </a:tabLst>
            </a:pPr>
            <a:endParaRPr lang="de-CH" dirty="0"/>
          </a:p>
          <a:p>
            <a:pPr marL="0" indent="0">
              <a:buNone/>
              <a:tabLst>
                <a:tab pos="9779000" algn="r"/>
              </a:tabLst>
            </a:pPr>
            <a:r>
              <a:rPr lang="de-CH" dirty="0"/>
              <a:t>«Guten Tag, darf ich Sie etwas fragen?»</a:t>
            </a:r>
          </a:p>
          <a:p>
            <a:pPr marL="0" indent="0">
              <a:buNone/>
              <a:tabLst>
                <a:tab pos="9779000" algn="r"/>
              </a:tabLst>
            </a:pPr>
            <a:r>
              <a:rPr lang="de-CH" dirty="0"/>
              <a:t>	«Hallo, klar, schiessen Sie los!»</a:t>
            </a:r>
          </a:p>
          <a:p>
            <a:pPr marL="0" indent="0">
              <a:buNone/>
              <a:tabLst>
                <a:tab pos="9779000" algn="r"/>
              </a:tabLst>
            </a:pPr>
            <a:r>
              <a:rPr lang="de-CH" dirty="0"/>
              <a:t>«Wie spät ist es?»</a:t>
            </a:r>
          </a:p>
          <a:p>
            <a:pPr marL="0" indent="0">
              <a:buNone/>
              <a:tabLst>
                <a:tab pos="9779000" algn="r"/>
              </a:tabLst>
            </a:pPr>
            <a:r>
              <a:rPr lang="de-CH" dirty="0"/>
              <a:t>	«Es ist 14:15 Uhr.»</a:t>
            </a:r>
          </a:p>
          <a:p>
            <a:pPr marL="0" indent="0">
              <a:buNone/>
              <a:tabLst>
                <a:tab pos="9779000" algn="r"/>
              </a:tabLst>
            </a:pPr>
            <a:r>
              <a:rPr lang="de-CH" dirty="0"/>
              <a:t>«Entschuldigung, ich habe Sie nicht verstanden.»</a:t>
            </a:r>
          </a:p>
          <a:p>
            <a:pPr marL="0" indent="0">
              <a:buNone/>
              <a:tabLst>
                <a:tab pos="9779000" algn="r"/>
              </a:tabLst>
            </a:pPr>
            <a:r>
              <a:rPr lang="de-CH" dirty="0"/>
              <a:t>	«Es ist 14:15 Uhr.»</a:t>
            </a:r>
          </a:p>
          <a:p>
            <a:pPr marL="0" indent="0">
              <a:buNone/>
              <a:tabLst>
                <a:tab pos="9779000" algn="r"/>
              </a:tabLst>
            </a:pPr>
            <a:r>
              <a:rPr lang="de-CH" dirty="0"/>
              <a:t>«Danke und einen schönen Tag, tschüss.»</a:t>
            </a:r>
          </a:p>
          <a:p>
            <a:pPr marL="0" indent="0">
              <a:buNone/>
              <a:tabLst>
                <a:tab pos="9779000" algn="r"/>
              </a:tabLst>
            </a:pPr>
            <a:r>
              <a:rPr lang="de-CH" dirty="0"/>
              <a:t>	«Kein Problem, Ihnen auch, wiedersehen!»</a:t>
            </a:r>
          </a:p>
        </p:txBody>
      </p:sp>
      <p:sp>
        <p:nvSpPr>
          <p:cNvPr id="4" name="Rechteck 3">
            <a:extLst>
              <a:ext uri="{FF2B5EF4-FFF2-40B4-BE49-F238E27FC236}">
                <a16:creationId xmlns:a16="http://schemas.microsoft.com/office/drawing/2014/main" id="{B97208AC-1097-400B-BC62-0060697DBA02}"/>
              </a:ext>
            </a:extLst>
          </p:cNvPr>
          <p:cNvSpPr/>
          <p:nvPr/>
        </p:nvSpPr>
        <p:spPr>
          <a:xfrm>
            <a:off x="9080500" y="3472773"/>
            <a:ext cx="2844800" cy="772877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CH" sz="2400" dirty="0"/>
              <a:t>Anwendungsschicht</a:t>
            </a:r>
          </a:p>
        </p:txBody>
      </p:sp>
      <p:sp>
        <p:nvSpPr>
          <p:cNvPr id="5" name="Rechteck 4">
            <a:extLst>
              <a:ext uri="{FF2B5EF4-FFF2-40B4-BE49-F238E27FC236}">
                <a16:creationId xmlns:a16="http://schemas.microsoft.com/office/drawing/2014/main" id="{0334BDD1-410B-43C1-8D3E-874D78474309}"/>
              </a:ext>
            </a:extLst>
          </p:cNvPr>
          <p:cNvSpPr/>
          <p:nvPr/>
        </p:nvSpPr>
        <p:spPr>
          <a:xfrm>
            <a:off x="9080500" y="2573645"/>
            <a:ext cx="2844800" cy="855355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CH" sz="2400" dirty="0"/>
              <a:t>Transportschicht</a:t>
            </a:r>
          </a:p>
        </p:txBody>
      </p:sp>
      <p:sp>
        <p:nvSpPr>
          <p:cNvPr id="8" name="Rechteck 7">
            <a:extLst>
              <a:ext uri="{FF2B5EF4-FFF2-40B4-BE49-F238E27FC236}">
                <a16:creationId xmlns:a16="http://schemas.microsoft.com/office/drawing/2014/main" id="{C290CA32-4BF7-4C5A-A958-B917926EDA3D}"/>
              </a:ext>
            </a:extLst>
          </p:cNvPr>
          <p:cNvSpPr/>
          <p:nvPr/>
        </p:nvSpPr>
        <p:spPr>
          <a:xfrm>
            <a:off x="9080500" y="4276721"/>
            <a:ext cx="2844800" cy="1607230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CH" sz="2400"/>
              <a:t>Transportschicht</a:t>
            </a:r>
          </a:p>
        </p:txBody>
      </p:sp>
      <p:sp>
        <p:nvSpPr>
          <p:cNvPr id="12" name="Rechteck 11">
            <a:extLst>
              <a:ext uri="{FF2B5EF4-FFF2-40B4-BE49-F238E27FC236}">
                <a16:creationId xmlns:a16="http://schemas.microsoft.com/office/drawing/2014/main" id="{80117241-7929-46DE-AC5A-FD59D7FF3845}"/>
              </a:ext>
            </a:extLst>
          </p:cNvPr>
          <p:cNvSpPr/>
          <p:nvPr/>
        </p:nvSpPr>
        <p:spPr>
          <a:xfrm>
            <a:off x="1085850" y="2582503"/>
            <a:ext cx="7994650" cy="846498"/>
          </a:xfrm>
          <a:prstGeom prst="rect">
            <a:avLst/>
          </a:prstGeom>
          <a:solidFill>
            <a:schemeClr val="accent4">
              <a:lumMod val="40000"/>
              <a:lumOff val="60000"/>
              <a:alpha val="20000"/>
            </a:schemeClr>
          </a:solidFill>
          <a:ln>
            <a:solidFill>
              <a:srgbClr val="538C2A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sp>
        <p:nvSpPr>
          <p:cNvPr id="13" name="Rechteck 12">
            <a:extLst>
              <a:ext uri="{FF2B5EF4-FFF2-40B4-BE49-F238E27FC236}">
                <a16:creationId xmlns:a16="http://schemas.microsoft.com/office/drawing/2014/main" id="{866CE072-CE1A-4B19-A560-08912E8AD0EC}"/>
              </a:ext>
            </a:extLst>
          </p:cNvPr>
          <p:cNvSpPr/>
          <p:nvPr/>
        </p:nvSpPr>
        <p:spPr>
          <a:xfrm>
            <a:off x="1085850" y="3472772"/>
            <a:ext cx="7994650" cy="772877"/>
          </a:xfrm>
          <a:prstGeom prst="rect">
            <a:avLst/>
          </a:prstGeom>
          <a:solidFill>
            <a:schemeClr val="accent2">
              <a:lumMod val="40000"/>
              <a:lumOff val="60000"/>
              <a:alpha val="20000"/>
            </a:schemeClr>
          </a:solidFill>
          <a:ln>
            <a:solidFill>
              <a:srgbClr val="22328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sp>
        <p:nvSpPr>
          <p:cNvPr id="14" name="Rechteck 13">
            <a:extLst>
              <a:ext uri="{FF2B5EF4-FFF2-40B4-BE49-F238E27FC236}">
                <a16:creationId xmlns:a16="http://schemas.microsoft.com/office/drawing/2014/main" id="{DE0734CE-E1BC-4873-8D97-10C0AF7BBAC3}"/>
              </a:ext>
            </a:extLst>
          </p:cNvPr>
          <p:cNvSpPr/>
          <p:nvPr/>
        </p:nvSpPr>
        <p:spPr>
          <a:xfrm>
            <a:off x="1085850" y="4276721"/>
            <a:ext cx="7994650" cy="1607230"/>
          </a:xfrm>
          <a:prstGeom prst="rect">
            <a:avLst/>
          </a:prstGeom>
          <a:solidFill>
            <a:schemeClr val="accent4">
              <a:lumMod val="40000"/>
              <a:lumOff val="60000"/>
              <a:alpha val="20000"/>
            </a:schemeClr>
          </a:solidFill>
          <a:ln>
            <a:solidFill>
              <a:srgbClr val="538C2A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sp>
        <p:nvSpPr>
          <p:cNvPr id="11" name="Denkblase: wolkenförmig 10">
            <a:extLst>
              <a:ext uri="{FF2B5EF4-FFF2-40B4-BE49-F238E27FC236}">
                <a16:creationId xmlns:a16="http://schemas.microsoft.com/office/drawing/2014/main" id="{8F432CE1-D703-4776-B6AD-EB52C7154C35}"/>
              </a:ext>
            </a:extLst>
          </p:cNvPr>
          <p:cNvSpPr/>
          <p:nvPr/>
        </p:nvSpPr>
        <p:spPr>
          <a:xfrm>
            <a:off x="101600" y="5595497"/>
            <a:ext cx="2844800" cy="1162932"/>
          </a:xfrm>
          <a:prstGeom prst="cloudCallout">
            <a:avLst>
              <a:gd name="adj1" fmla="val 90648"/>
              <a:gd name="adj2" fmla="val -23010"/>
            </a:avLst>
          </a:prstGeom>
          <a:solidFill>
            <a:schemeClr val="accent3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CH" sz="2400"/>
              <a:t>Beenden der Verbindung</a:t>
            </a:r>
          </a:p>
        </p:txBody>
      </p:sp>
      <p:sp>
        <p:nvSpPr>
          <p:cNvPr id="10" name="Denkblase: wolkenförmig 9">
            <a:extLst>
              <a:ext uri="{FF2B5EF4-FFF2-40B4-BE49-F238E27FC236}">
                <a16:creationId xmlns:a16="http://schemas.microsoft.com/office/drawing/2014/main" id="{59EB1C34-07F5-495F-AD22-E6CC3BE2BA1D}"/>
              </a:ext>
            </a:extLst>
          </p:cNvPr>
          <p:cNvSpPr/>
          <p:nvPr/>
        </p:nvSpPr>
        <p:spPr>
          <a:xfrm>
            <a:off x="7861300" y="681037"/>
            <a:ext cx="3924300" cy="1815395"/>
          </a:xfrm>
          <a:prstGeom prst="cloudCallout">
            <a:avLst>
              <a:gd name="adj1" fmla="val -45663"/>
              <a:gd name="adj2" fmla="val 162817"/>
            </a:avLst>
          </a:prstGeom>
          <a:solidFill>
            <a:schemeClr val="accent3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CH" sz="2400" dirty="0"/>
              <a:t>Sicherstellen, dass alles  korrekt verstanden wird.</a:t>
            </a:r>
          </a:p>
        </p:txBody>
      </p:sp>
      <p:sp>
        <p:nvSpPr>
          <p:cNvPr id="9" name="Denkblase: wolkenförmig 8">
            <a:extLst>
              <a:ext uri="{FF2B5EF4-FFF2-40B4-BE49-F238E27FC236}">
                <a16:creationId xmlns:a16="http://schemas.microsoft.com/office/drawing/2014/main" id="{6FC58578-DB52-41EE-A369-FF9BA94CFBB0}"/>
              </a:ext>
            </a:extLst>
          </p:cNvPr>
          <p:cNvSpPr/>
          <p:nvPr/>
        </p:nvSpPr>
        <p:spPr>
          <a:xfrm>
            <a:off x="508000" y="1333501"/>
            <a:ext cx="2844800" cy="1162932"/>
          </a:xfrm>
          <a:prstGeom prst="cloudCallout">
            <a:avLst>
              <a:gd name="adj1" fmla="val 71005"/>
              <a:gd name="adj2" fmla="val 59987"/>
            </a:avLst>
          </a:prstGeom>
          <a:solidFill>
            <a:schemeClr val="accent3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CH" sz="2400" dirty="0"/>
              <a:t>Verbindungs-aufbau</a:t>
            </a:r>
          </a:p>
        </p:txBody>
      </p:sp>
    </p:spTree>
    <p:extLst>
      <p:ext uri="{BB962C8B-B14F-4D97-AF65-F5344CB8AC3E}">
        <p14:creationId xmlns:p14="http://schemas.microsoft.com/office/powerpoint/2010/main" val="39855407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8" grpId="0" animBg="1"/>
      <p:bldP spid="12" grpId="0" animBg="1"/>
      <p:bldP spid="13" grpId="0" animBg="1"/>
      <p:bldP spid="14" grpId="0" animBg="1"/>
      <p:bldP spid="11" grpId="0" animBg="1"/>
      <p:bldP spid="10" grpId="0" animBg="1"/>
      <p:bldP spid="9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89D40E9-53BC-4858-A77C-6D5F90ECA3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CH"/>
              <a:t>Protokoll bei uns Menschen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FBD4A2DD-2579-4B94-8FD8-4E52600A02D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de-CH"/>
              <a:t>Was ist mit den anderen Schichten?</a:t>
            </a:r>
          </a:p>
          <a:p>
            <a:endParaRPr lang="de-CH"/>
          </a:p>
          <a:p>
            <a:r>
              <a:rPr lang="de-CH"/>
              <a:t>«Adressieren»:</a:t>
            </a:r>
            <a:br>
              <a:rPr lang="de-CH"/>
            </a:br>
            <a:r>
              <a:rPr lang="de-CH"/>
              <a:t>vis-à-vis stehen und anschauen</a:t>
            </a:r>
            <a:br>
              <a:rPr lang="de-CH"/>
            </a:br>
            <a:endParaRPr lang="de-CH"/>
          </a:p>
          <a:p>
            <a:r>
              <a:rPr lang="de-CH"/>
              <a:t>Sprache wird über die Luft</a:t>
            </a:r>
            <a:br>
              <a:rPr lang="de-CH"/>
            </a:br>
            <a:r>
              <a:rPr lang="de-CH"/>
              <a:t>übertragen</a:t>
            </a:r>
          </a:p>
        </p:txBody>
      </p:sp>
      <p:sp>
        <p:nvSpPr>
          <p:cNvPr id="4" name="Rechteck 3">
            <a:extLst>
              <a:ext uri="{FF2B5EF4-FFF2-40B4-BE49-F238E27FC236}">
                <a16:creationId xmlns:a16="http://schemas.microsoft.com/office/drawing/2014/main" id="{A55B2C1F-D527-4FF7-B975-3815AEB0884D}"/>
              </a:ext>
            </a:extLst>
          </p:cNvPr>
          <p:cNvSpPr/>
          <p:nvPr/>
        </p:nvSpPr>
        <p:spPr>
          <a:xfrm>
            <a:off x="7320132" y="2914650"/>
            <a:ext cx="3390900" cy="1028700"/>
          </a:xfrm>
          <a:prstGeom prst="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CH" sz="2400" dirty="0"/>
              <a:t>Vermittlungsschicht</a:t>
            </a:r>
          </a:p>
        </p:txBody>
      </p:sp>
      <p:sp>
        <p:nvSpPr>
          <p:cNvPr id="5" name="Rechteck 4">
            <a:extLst>
              <a:ext uri="{FF2B5EF4-FFF2-40B4-BE49-F238E27FC236}">
                <a16:creationId xmlns:a16="http://schemas.microsoft.com/office/drawing/2014/main" id="{9495F499-CAF9-4C19-9ECD-E79DBAF24928}"/>
              </a:ext>
            </a:extLst>
          </p:cNvPr>
          <p:cNvSpPr/>
          <p:nvPr/>
        </p:nvSpPr>
        <p:spPr>
          <a:xfrm>
            <a:off x="7320132" y="4356400"/>
            <a:ext cx="3390900" cy="1028700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CH" sz="2400" dirty="0"/>
              <a:t>Physikalische Schicht</a:t>
            </a:r>
          </a:p>
        </p:txBody>
      </p:sp>
    </p:spTree>
    <p:extLst>
      <p:ext uri="{BB962C8B-B14F-4D97-AF65-F5344CB8AC3E}">
        <p14:creationId xmlns:p14="http://schemas.microsoft.com/office/powerpoint/2010/main" val="159412509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rafik 3" descr="Ein Bild, das sitzend, Monitor, dunkel, orange enthält.&#10;&#10;Automatisch generierte Beschreibung">
            <a:extLst>
              <a:ext uri="{FF2B5EF4-FFF2-40B4-BE49-F238E27FC236}">
                <a16:creationId xmlns:a16="http://schemas.microsoft.com/office/drawing/2014/main" id="{14BACF73-916C-4EFE-8EE7-78744C684F0A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831" b="18880"/>
          <a:stretch/>
        </p:blipFill>
        <p:spPr>
          <a:xfrm>
            <a:off x="3344612" y="4246263"/>
            <a:ext cx="1075764" cy="393267"/>
          </a:xfrm>
          <a:prstGeom prst="rect">
            <a:avLst/>
          </a:prstGeom>
        </p:spPr>
      </p:pic>
      <p:pic>
        <p:nvPicPr>
          <p:cNvPr id="5" name="Grafik 4">
            <a:extLst>
              <a:ext uri="{FF2B5EF4-FFF2-40B4-BE49-F238E27FC236}">
                <a16:creationId xmlns:a16="http://schemas.microsoft.com/office/drawing/2014/main" id="{9A35822C-F9C2-4D6F-B445-3D76F2D538F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06725" y="2657533"/>
            <a:ext cx="951543" cy="1103878"/>
          </a:xfrm>
          <a:prstGeom prst="rect">
            <a:avLst/>
          </a:prstGeom>
        </p:spPr>
      </p:pic>
      <p:pic>
        <p:nvPicPr>
          <p:cNvPr id="12" name="Grafik 11" descr="Ein Bild, das Spielzeug, Puppe enthält.&#10;&#10;Automatisch generierte Beschreibung">
            <a:extLst>
              <a:ext uri="{FF2B5EF4-FFF2-40B4-BE49-F238E27FC236}">
                <a16:creationId xmlns:a16="http://schemas.microsoft.com/office/drawing/2014/main" id="{1AE5ED23-6D74-4190-94CC-D64A0B6A28A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92218" y="1235593"/>
            <a:ext cx="1380558" cy="963629"/>
          </a:xfrm>
          <a:prstGeom prst="rect">
            <a:avLst/>
          </a:prstGeom>
        </p:spPr>
      </p:pic>
      <p:pic>
        <p:nvPicPr>
          <p:cNvPr id="14" name="Grafik 13" descr="Ein Bild, das Spielzeug, Raum, Uhr enthält.&#10;&#10;Automatisch generierte Beschreibung">
            <a:extLst>
              <a:ext uri="{FF2B5EF4-FFF2-40B4-BE49-F238E27FC236}">
                <a16:creationId xmlns:a16="http://schemas.microsoft.com/office/drawing/2014/main" id="{A0F73463-AA21-45AD-9A3B-7E159D721831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27455" y="1249353"/>
            <a:ext cx="1201936" cy="936107"/>
          </a:xfrm>
          <a:prstGeom prst="rect">
            <a:avLst/>
          </a:prstGeom>
        </p:spPr>
      </p:pic>
      <p:cxnSp>
        <p:nvCxnSpPr>
          <p:cNvPr id="16" name="Gerade Verbindung mit Pfeil 15">
            <a:extLst>
              <a:ext uri="{FF2B5EF4-FFF2-40B4-BE49-F238E27FC236}">
                <a16:creationId xmlns:a16="http://schemas.microsoft.com/office/drawing/2014/main" id="{E17D7784-8DB5-4F5C-BDC5-1C911BB56CAA}"/>
              </a:ext>
            </a:extLst>
          </p:cNvPr>
          <p:cNvCxnSpPr>
            <a:cxnSpLocks/>
          </p:cNvCxnSpPr>
          <p:nvPr/>
        </p:nvCxnSpPr>
        <p:spPr>
          <a:xfrm>
            <a:off x="4991100" y="1702700"/>
            <a:ext cx="3467100" cy="0"/>
          </a:xfrm>
          <a:prstGeom prst="straightConnector1">
            <a:avLst/>
          </a:prstGeom>
          <a:ln w="5715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2" name="Grafik 31" descr="Ein Bild, das Zeichnung enthält.&#10;&#10;Automatisch generierte Beschreibung">
            <a:extLst>
              <a:ext uri="{FF2B5EF4-FFF2-40B4-BE49-F238E27FC236}">
                <a16:creationId xmlns:a16="http://schemas.microsoft.com/office/drawing/2014/main" id="{B1268D62-ACD6-4E8C-B07B-E99C91C9951B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92555" y="5282588"/>
            <a:ext cx="1579879" cy="1071158"/>
          </a:xfrm>
          <a:prstGeom prst="rect">
            <a:avLst/>
          </a:prstGeom>
        </p:spPr>
      </p:pic>
      <p:pic>
        <p:nvPicPr>
          <p:cNvPr id="34" name="Grafik 33">
            <a:extLst>
              <a:ext uri="{FF2B5EF4-FFF2-40B4-BE49-F238E27FC236}">
                <a16:creationId xmlns:a16="http://schemas.microsoft.com/office/drawing/2014/main" id="{7E037A8B-B565-4E6A-B138-286D13479A5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52651" y="2657533"/>
            <a:ext cx="951543" cy="1103878"/>
          </a:xfrm>
          <a:prstGeom prst="rect">
            <a:avLst/>
          </a:prstGeom>
        </p:spPr>
      </p:pic>
      <p:pic>
        <p:nvPicPr>
          <p:cNvPr id="35" name="Grafik 34" descr="Ein Bild, das Zeichnung enthält.&#10;&#10;Automatisch generierte Beschreibung">
            <a:extLst>
              <a:ext uri="{FF2B5EF4-FFF2-40B4-BE49-F238E27FC236}">
                <a16:creationId xmlns:a16="http://schemas.microsoft.com/office/drawing/2014/main" id="{7B8B1141-0B07-4938-836D-D04788F1062B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38481" y="5282588"/>
            <a:ext cx="1579879" cy="1071158"/>
          </a:xfrm>
          <a:prstGeom prst="rect">
            <a:avLst/>
          </a:prstGeom>
        </p:spPr>
      </p:pic>
      <p:pic>
        <p:nvPicPr>
          <p:cNvPr id="43" name="Grafik 42" descr="Ein Bild, das sitzend, Monitor, dunkel, orange enthält.&#10;&#10;Automatisch generierte Beschreibung">
            <a:extLst>
              <a:ext uri="{FF2B5EF4-FFF2-40B4-BE49-F238E27FC236}">
                <a16:creationId xmlns:a16="http://schemas.microsoft.com/office/drawing/2014/main" id="{5F2A9AD2-FCF2-4E9B-B7EB-80FCFEE005BE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831" b="18880"/>
          <a:stretch/>
        </p:blipFill>
        <p:spPr>
          <a:xfrm>
            <a:off x="8890538" y="4246263"/>
            <a:ext cx="1075764" cy="393267"/>
          </a:xfrm>
          <a:prstGeom prst="rect">
            <a:avLst/>
          </a:prstGeom>
        </p:spPr>
      </p:pic>
      <p:cxnSp>
        <p:nvCxnSpPr>
          <p:cNvPr id="57" name="Gerade Verbindung mit Pfeil 56">
            <a:extLst>
              <a:ext uri="{FF2B5EF4-FFF2-40B4-BE49-F238E27FC236}">
                <a16:creationId xmlns:a16="http://schemas.microsoft.com/office/drawing/2014/main" id="{E1219CC3-0853-4D29-BF46-54F80F6180B2}"/>
              </a:ext>
            </a:extLst>
          </p:cNvPr>
          <p:cNvCxnSpPr>
            <a:cxnSpLocks/>
          </p:cNvCxnSpPr>
          <p:nvPr/>
        </p:nvCxnSpPr>
        <p:spPr>
          <a:xfrm>
            <a:off x="4991100" y="3169339"/>
            <a:ext cx="3467100" cy="2033"/>
          </a:xfrm>
          <a:prstGeom prst="straightConnector1">
            <a:avLst/>
          </a:prstGeom>
          <a:ln w="57150">
            <a:solidFill>
              <a:schemeClr val="accent4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Gerade Verbindung mit Pfeil 77">
            <a:extLst>
              <a:ext uri="{FF2B5EF4-FFF2-40B4-BE49-F238E27FC236}">
                <a16:creationId xmlns:a16="http://schemas.microsoft.com/office/drawing/2014/main" id="{0D0A0958-C4E9-4E09-99AB-E48510EF358D}"/>
              </a:ext>
            </a:extLst>
          </p:cNvPr>
          <p:cNvCxnSpPr>
            <a:cxnSpLocks/>
          </p:cNvCxnSpPr>
          <p:nvPr/>
        </p:nvCxnSpPr>
        <p:spPr>
          <a:xfrm>
            <a:off x="3217618" y="1903385"/>
            <a:ext cx="0" cy="1267987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Gerade Verbindung mit Pfeil 78">
            <a:extLst>
              <a:ext uri="{FF2B5EF4-FFF2-40B4-BE49-F238E27FC236}">
                <a16:creationId xmlns:a16="http://schemas.microsoft.com/office/drawing/2014/main" id="{B8377CF3-2713-4FF0-8D87-41FF38CA23BD}"/>
              </a:ext>
            </a:extLst>
          </p:cNvPr>
          <p:cNvCxnSpPr/>
          <p:nvPr/>
        </p:nvCxnSpPr>
        <p:spPr>
          <a:xfrm>
            <a:off x="3217618" y="3319921"/>
            <a:ext cx="0" cy="1152715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Gerade Verbindung mit Pfeil 79">
            <a:extLst>
              <a:ext uri="{FF2B5EF4-FFF2-40B4-BE49-F238E27FC236}">
                <a16:creationId xmlns:a16="http://schemas.microsoft.com/office/drawing/2014/main" id="{3E91B02F-15E6-42B4-A091-33C365500513}"/>
              </a:ext>
            </a:extLst>
          </p:cNvPr>
          <p:cNvCxnSpPr/>
          <p:nvPr/>
        </p:nvCxnSpPr>
        <p:spPr>
          <a:xfrm>
            <a:off x="3217618" y="4606252"/>
            <a:ext cx="0" cy="866052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Gerade Verbindung mit Pfeil 80">
            <a:extLst>
              <a:ext uri="{FF2B5EF4-FFF2-40B4-BE49-F238E27FC236}">
                <a16:creationId xmlns:a16="http://schemas.microsoft.com/office/drawing/2014/main" id="{D6FD4EB1-327D-4DC3-A905-E7E8DE2CC42E}"/>
              </a:ext>
            </a:extLst>
          </p:cNvPr>
          <p:cNvCxnSpPr/>
          <p:nvPr/>
        </p:nvCxnSpPr>
        <p:spPr>
          <a:xfrm>
            <a:off x="10240718" y="1903385"/>
            <a:ext cx="0" cy="1267987"/>
          </a:xfrm>
          <a:prstGeom prst="straightConnector1">
            <a:avLst/>
          </a:prstGeom>
          <a:ln w="57150">
            <a:solidFill>
              <a:schemeClr val="tx1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Gerade Verbindung mit Pfeil 81">
            <a:extLst>
              <a:ext uri="{FF2B5EF4-FFF2-40B4-BE49-F238E27FC236}">
                <a16:creationId xmlns:a16="http://schemas.microsoft.com/office/drawing/2014/main" id="{EFFFF9B8-04B5-44C0-B23F-FB17C76A3050}"/>
              </a:ext>
            </a:extLst>
          </p:cNvPr>
          <p:cNvCxnSpPr/>
          <p:nvPr/>
        </p:nvCxnSpPr>
        <p:spPr>
          <a:xfrm>
            <a:off x="10240718" y="3319921"/>
            <a:ext cx="0" cy="1152715"/>
          </a:xfrm>
          <a:prstGeom prst="straightConnector1">
            <a:avLst/>
          </a:prstGeom>
          <a:ln w="57150">
            <a:solidFill>
              <a:schemeClr val="tx1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Gerade Verbindung mit Pfeil 82">
            <a:extLst>
              <a:ext uri="{FF2B5EF4-FFF2-40B4-BE49-F238E27FC236}">
                <a16:creationId xmlns:a16="http://schemas.microsoft.com/office/drawing/2014/main" id="{03A157AF-109F-4DC0-97A2-E81ED7C9B4CA}"/>
              </a:ext>
            </a:extLst>
          </p:cNvPr>
          <p:cNvCxnSpPr/>
          <p:nvPr/>
        </p:nvCxnSpPr>
        <p:spPr>
          <a:xfrm>
            <a:off x="10240718" y="4606252"/>
            <a:ext cx="0" cy="866052"/>
          </a:xfrm>
          <a:prstGeom prst="straightConnector1">
            <a:avLst/>
          </a:prstGeom>
          <a:ln w="57150">
            <a:solidFill>
              <a:schemeClr val="tx1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Gerade Verbindung mit Pfeil 49">
            <a:extLst>
              <a:ext uri="{FF2B5EF4-FFF2-40B4-BE49-F238E27FC236}">
                <a16:creationId xmlns:a16="http://schemas.microsoft.com/office/drawing/2014/main" id="{8F482357-F37E-4591-9246-AE067F38A7F8}"/>
              </a:ext>
            </a:extLst>
          </p:cNvPr>
          <p:cNvCxnSpPr>
            <a:cxnSpLocks/>
          </p:cNvCxnSpPr>
          <p:nvPr/>
        </p:nvCxnSpPr>
        <p:spPr>
          <a:xfrm>
            <a:off x="4991100" y="4427029"/>
            <a:ext cx="3467100" cy="2033"/>
          </a:xfrm>
          <a:prstGeom prst="straightConnector1">
            <a:avLst/>
          </a:prstGeom>
          <a:ln w="57150">
            <a:solidFill>
              <a:schemeClr val="accent5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Gerade Verbindung mit Pfeil 50">
            <a:extLst>
              <a:ext uri="{FF2B5EF4-FFF2-40B4-BE49-F238E27FC236}">
                <a16:creationId xmlns:a16="http://schemas.microsoft.com/office/drawing/2014/main" id="{A1D29D2D-7D44-4864-8438-9AB49E2B63DD}"/>
              </a:ext>
            </a:extLst>
          </p:cNvPr>
          <p:cNvCxnSpPr>
            <a:cxnSpLocks/>
          </p:cNvCxnSpPr>
          <p:nvPr/>
        </p:nvCxnSpPr>
        <p:spPr>
          <a:xfrm>
            <a:off x="4991100" y="5624967"/>
            <a:ext cx="3467100" cy="2033"/>
          </a:xfrm>
          <a:prstGeom prst="straightConnector1">
            <a:avLst/>
          </a:prstGeom>
          <a:ln w="57150"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feld 2">
            <a:extLst>
              <a:ext uri="{FF2B5EF4-FFF2-40B4-BE49-F238E27FC236}">
                <a16:creationId xmlns:a16="http://schemas.microsoft.com/office/drawing/2014/main" id="{384E6A5C-4384-45AA-B4F4-64D73F0195DA}"/>
              </a:ext>
            </a:extLst>
          </p:cNvPr>
          <p:cNvSpPr txBox="1"/>
          <p:nvPr/>
        </p:nvSpPr>
        <p:spPr>
          <a:xfrm>
            <a:off x="6084923" y="424556"/>
            <a:ext cx="127945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CH" sz="2000" b="1" dirty="0"/>
              <a:t>Protokolle</a:t>
            </a:r>
          </a:p>
        </p:txBody>
      </p:sp>
      <p:sp>
        <p:nvSpPr>
          <p:cNvPr id="10" name="Textfeld 9">
            <a:extLst>
              <a:ext uri="{FF2B5EF4-FFF2-40B4-BE49-F238E27FC236}">
                <a16:creationId xmlns:a16="http://schemas.microsoft.com/office/drawing/2014/main" id="{41DF761A-8597-42B3-BC5A-B1355A24785B}"/>
              </a:ext>
            </a:extLst>
          </p:cNvPr>
          <p:cNvSpPr txBox="1"/>
          <p:nvPr/>
        </p:nvSpPr>
        <p:spPr>
          <a:xfrm>
            <a:off x="4991100" y="2800007"/>
            <a:ext cx="34671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CH"/>
              <a:t>Reihenfolge der Teile, …</a:t>
            </a:r>
          </a:p>
        </p:txBody>
      </p:sp>
      <p:sp>
        <p:nvSpPr>
          <p:cNvPr id="56" name="Textfeld 55">
            <a:extLst>
              <a:ext uri="{FF2B5EF4-FFF2-40B4-BE49-F238E27FC236}">
                <a16:creationId xmlns:a16="http://schemas.microsoft.com/office/drawing/2014/main" id="{C2176C5F-7EEF-4C42-B8C8-3348D42ECFC1}"/>
              </a:ext>
            </a:extLst>
          </p:cNvPr>
          <p:cNvSpPr txBox="1"/>
          <p:nvPr/>
        </p:nvSpPr>
        <p:spPr>
          <a:xfrm>
            <a:off x="4991099" y="4067775"/>
            <a:ext cx="34670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CH"/>
              <a:t>Zustellung anhand von Adressen</a:t>
            </a:r>
          </a:p>
        </p:txBody>
      </p:sp>
      <p:sp>
        <p:nvSpPr>
          <p:cNvPr id="58" name="Textfeld 57">
            <a:extLst>
              <a:ext uri="{FF2B5EF4-FFF2-40B4-BE49-F238E27FC236}">
                <a16:creationId xmlns:a16="http://schemas.microsoft.com/office/drawing/2014/main" id="{9AD7F256-20CA-453E-96CA-C59D2AC68C51}"/>
              </a:ext>
            </a:extLst>
          </p:cNvPr>
          <p:cNvSpPr txBox="1"/>
          <p:nvPr/>
        </p:nvSpPr>
        <p:spPr>
          <a:xfrm>
            <a:off x="4991099" y="5255635"/>
            <a:ext cx="34670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CH"/>
              <a:t>eigentliche Übertragung</a:t>
            </a:r>
          </a:p>
        </p:txBody>
      </p:sp>
      <p:sp>
        <p:nvSpPr>
          <p:cNvPr id="59" name="Textfeld 58">
            <a:extLst>
              <a:ext uri="{FF2B5EF4-FFF2-40B4-BE49-F238E27FC236}">
                <a16:creationId xmlns:a16="http://schemas.microsoft.com/office/drawing/2014/main" id="{4DCA1AC2-FD89-4EC6-A21E-21410F276E73}"/>
              </a:ext>
            </a:extLst>
          </p:cNvPr>
          <p:cNvSpPr txBox="1"/>
          <p:nvPr/>
        </p:nvSpPr>
        <p:spPr>
          <a:xfrm>
            <a:off x="4991100" y="1348074"/>
            <a:ext cx="34671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CH"/>
              <a:t>Auftrag, eigentlicher Inhalt</a:t>
            </a:r>
          </a:p>
        </p:txBody>
      </p:sp>
    </p:spTree>
    <p:extLst>
      <p:ext uri="{BB962C8B-B14F-4D97-AF65-F5344CB8AC3E}">
        <p14:creationId xmlns:p14="http://schemas.microsoft.com/office/powerpoint/2010/main" val="66043042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54EC930-68F2-4DAC-BCD2-902F107D29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CH"/>
              <a:t>Schichtenmodell und Protokolle</a:t>
            </a:r>
          </a:p>
        </p:txBody>
      </p:sp>
      <p:sp>
        <p:nvSpPr>
          <p:cNvPr id="3" name="Rechteck 2">
            <a:extLst>
              <a:ext uri="{FF2B5EF4-FFF2-40B4-BE49-F238E27FC236}">
                <a16:creationId xmlns:a16="http://schemas.microsoft.com/office/drawing/2014/main" id="{3730E495-2008-4229-8625-44C6D0980710}"/>
              </a:ext>
            </a:extLst>
          </p:cNvPr>
          <p:cNvSpPr/>
          <p:nvPr/>
        </p:nvSpPr>
        <p:spPr>
          <a:xfrm>
            <a:off x="1181100" y="2146300"/>
            <a:ext cx="3390900" cy="1028700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CH" sz="2400"/>
              <a:t>Anwendungsschicht</a:t>
            </a:r>
          </a:p>
        </p:txBody>
      </p:sp>
      <p:sp>
        <p:nvSpPr>
          <p:cNvPr id="6" name="Rechteck 5">
            <a:extLst>
              <a:ext uri="{FF2B5EF4-FFF2-40B4-BE49-F238E27FC236}">
                <a16:creationId xmlns:a16="http://schemas.microsoft.com/office/drawing/2014/main" id="{109A8258-6E3C-4294-96CB-7AE6F68E55D9}"/>
              </a:ext>
            </a:extLst>
          </p:cNvPr>
          <p:cNvSpPr/>
          <p:nvPr/>
        </p:nvSpPr>
        <p:spPr>
          <a:xfrm>
            <a:off x="1181100" y="3168651"/>
            <a:ext cx="3390900" cy="1028700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CH" sz="2400"/>
              <a:t>Transportschicht</a:t>
            </a:r>
          </a:p>
        </p:txBody>
      </p:sp>
      <p:sp>
        <p:nvSpPr>
          <p:cNvPr id="7" name="Rechteck 6">
            <a:extLst>
              <a:ext uri="{FF2B5EF4-FFF2-40B4-BE49-F238E27FC236}">
                <a16:creationId xmlns:a16="http://schemas.microsoft.com/office/drawing/2014/main" id="{FC048429-AE3D-4EC3-9B97-636BC9C352C1}"/>
              </a:ext>
            </a:extLst>
          </p:cNvPr>
          <p:cNvSpPr/>
          <p:nvPr/>
        </p:nvSpPr>
        <p:spPr>
          <a:xfrm>
            <a:off x="1181100" y="4191002"/>
            <a:ext cx="3390900" cy="1028700"/>
          </a:xfrm>
          <a:prstGeom prst="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CH" sz="2400" dirty="0"/>
              <a:t>Vermittlungsschicht</a:t>
            </a:r>
          </a:p>
        </p:txBody>
      </p:sp>
      <p:sp>
        <p:nvSpPr>
          <p:cNvPr id="8" name="Rechteck 7">
            <a:extLst>
              <a:ext uri="{FF2B5EF4-FFF2-40B4-BE49-F238E27FC236}">
                <a16:creationId xmlns:a16="http://schemas.microsoft.com/office/drawing/2014/main" id="{FFF25C40-C91D-43F3-BBCD-9F3893A18854}"/>
              </a:ext>
            </a:extLst>
          </p:cNvPr>
          <p:cNvSpPr/>
          <p:nvPr/>
        </p:nvSpPr>
        <p:spPr>
          <a:xfrm>
            <a:off x="1181100" y="5213353"/>
            <a:ext cx="3390900" cy="1028700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CH" sz="2400"/>
              <a:t>Physikalische Schicht</a:t>
            </a:r>
          </a:p>
        </p:txBody>
      </p:sp>
      <p:sp>
        <p:nvSpPr>
          <p:cNvPr id="9" name="Rechteck 8">
            <a:extLst>
              <a:ext uri="{FF2B5EF4-FFF2-40B4-BE49-F238E27FC236}">
                <a16:creationId xmlns:a16="http://schemas.microsoft.com/office/drawing/2014/main" id="{B04CF06D-EC49-444D-B1F5-B5A0C66DDE65}"/>
              </a:ext>
            </a:extLst>
          </p:cNvPr>
          <p:cNvSpPr/>
          <p:nvPr/>
        </p:nvSpPr>
        <p:spPr>
          <a:xfrm>
            <a:off x="9817100" y="2530475"/>
            <a:ext cx="1972820" cy="641349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CH" sz="2000"/>
              <a:t>Daten</a:t>
            </a:r>
          </a:p>
        </p:txBody>
      </p:sp>
      <p:sp>
        <p:nvSpPr>
          <p:cNvPr id="11" name="Rechteck 10">
            <a:extLst>
              <a:ext uri="{FF2B5EF4-FFF2-40B4-BE49-F238E27FC236}">
                <a16:creationId xmlns:a16="http://schemas.microsoft.com/office/drawing/2014/main" id="{4B3D1C00-C2BE-4407-946E-0F897748F6A6}"/>
              </a:ext>
            </a:extLst>
          </p:cNvPr>
          <p:cNvSpPr/>
          <p:nvPr/>
        </p:nvSpPr>
        <p:spPr>
          <a:xfrm>
            <a:off x="9817100" y="3552826"/>
            <a:ext cx="1972820" cy="641349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CH" sz="2000"/>
              <a:t>Daten</a:t>
            </a:r>
          </a:p>
        </p:txBody>
      </p:sp>
      <p:sp>
        <p:nvSpPr>
          <p:cNvPr id="12" name="Rechteck 11">
            <a:extLst>
              <a:ext uri="{FF2B5EF4-FFF2-40B4-BE49-F238E27FC236}">
                <a16:creationId xmlns:a16="http://schemas.microsoft.com/office/drawing/2014/main" id="{51136D82-5FC3-4FF6-BBBD-0BC3E65FD717}"/>
              </a:ext>
            </a:extLst>
          </p:cNvPr>
          <p:cNvSpPr/>
          <p:nvPr/>
        </p:nvSpPr>
        <p:spPr>
          <a:xfrm>
            <a:off x="9817100" y="4575177"/>
            <a:ext cx="1972820" cy="641349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CH" sz="2000"/>
              <a:t>Daten</a:t>
            </a:r>
          </a:p>
        </p:txBody>
      </p:sp>
      <p:sp>
        <p:nvSpPr>
          <p:cNvPr id="13" name="Rechteck 12">
            <a:extLst>
              <a:ext uri="{FF2B5EF4-FFF2-40B4-BE49-F238E27FC236}">
                <a16:creationId xmlns:a16="http://schemas.microsoft.com/office/drawing/2014/main" id="{A447B344-3684-4FEE-8AD2-843ACB31EE55}"/>
              </a:ext>
            </a:extLst>
          </p:cNvPr>
          <p:cNvSpPr/>
          <p:nvPr/>
        </p:nvSpPr>
        <p:spPr>
          <a:xfrm>
            <a:off x="9817100" y="5597528"/>
            <a:ext cx="1972820" cy="641349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CH" sz="2000"/>
              <a:t>Daten</a:t>
            </a:r>
          </a:p>
        </p:txBody>
      </p:sp>
      <p:sp>
        <p:nvSpPr>
          <p:cNvPr id="14" name="Rechteck 13">
            <a:extLst>
              <a:ext uri="{FF2B5EF4-FFF2-40B4-BE49-F238E27FC236}">
                <a16:creationId xmlns:a16="http://schemas.microsoft.com/office/drawing/2014/main" id="{765426E3-35A1-403F-B187-33A2E461C54C}"/>
              </a:ext>
            </a:extLst>
          </p:cNvPr>
          <p:cNvSpPr/>
          <p:nvPr/>
        </p:nvSpPr>
        <p:spPr>
          <a:xfrm>
            <a:off x="8636000" y="3552826"/>
            <a:ext cx="1181100" cy="641349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CH" sz="2000"/>
              <a:t>TCP</a:t>
            </a:r>
            <a:br>
              <a:rPr lang="de-CH" sz="2000"/>
            </a:br>
            <a:r>
              <a:rPr lang="de-CH" sz="2000"/>
              <a:t>Ports</a:t>
            </a:r>
          </a:p>
        </p:txBody>
      </p:sp>
      <p:sp>
        <p:nvSpPr>
          <p:cNvPr id="15" name="Rechteck 14">
            <a:extLst>
              <a:ext uri="{FF2B5EF4-FFF2-40B4-BE49-F238E27FC236}">
                <a16:creationId xmlns:a16="http://schemas.microsoft.com/office/drawing/2014/main" id="{6DCC64B1-5888-4303-ACFE-03B46CEC2ED0}"/>
              </a:ext>
            </a:extLst>
          </p:cNvPr>
          <p:cNvSpPr/>
          <p:nvPr/>
        </p:nvSpPr>
        <p:spPr>
          <a:xfrm>
            <a:off x="8636000" y="4575177"/>
            <a:ext cx="1181100" cy="641349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CH" sz="2000"/>
              <a:t>TCP</a:t>
            </a:r>
            <a:br>
              <a:rPr lang="de-CH" sz="2000"/>
            </a:br>
            <a:r>
              <a:rPr lang="de-CH" sz="2000"/>
              <a:t>Ports</a:t>
            </a:r>
          </a:p>
        </p:txBody>
      </p:sp>
      <p:sp>
        <p:nvSpPr>
          <p:cNvPr id="16" name="Rechteck 15">
            <a:extLst>
              <a:ext uri="{FF2B5EF4-FFF2-40B4-BE49-F238E27FC236}">
                <a16:creationId xmlns:a16="http://schemas.microsoft.com/office/drawing/2014/main" id="{0D4918B8-80D2-48A5-B391-8A64564398D0}"/>
              </a:ext>
            </a:extLst>
          </p:cNvPr>
          <p:cNvSpPr/>
          <p:nvPr/>
        </p:nvSpPr>
        <p:spPr>
          <a:xfrm>
            <a:off x="8636000" y="5597528"/>
            <a:ext cx="1181100" cy="641349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CH" sz="2000"/>
              <a:t>TCP</a:t>
            </a:r>
            <a:br>
              <a:rPr lang="de-CH" sz="2000"/>
            </a:br>
            <a:r>
              <a:rPr lang="de-CH" sz="2000"/>
              <a:t>Ports</a:t>
            </a:r>
          </a:p>
        </p:txBody>
      </p:sp>
      <p:sp>
        <p:nvSpPr>
          <p:cNvPr id="17" name="Rechteck 16">
            <a:extLst>
              <a:ext uri="{FF2B5EF4-FFF2-40B4-BE49-F238E27FC236}">
                <a16:creationId xmlns:a16="http://schemas.microsoft.com/office/drawing/2014/main" id="{62262819-779E-49FF-9726-7C92EEA27CCB}"/>
              </a:ext>
            </a:extLst>
          </p:cNvPr>
          <p:cNvSpPr/>
          <p:nvPr/>
        </p:nvSpPr>
        <p:spPr>
          <a:xfrm>
            <a:off x="7454900" y="4575177"/>
            <a:ext cx="1181100" cy="641349"/>
          </a:xfrm>
          <a:prstGeom prst="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CH" sz="2000" dirty="0"/>
              <a:t>IP</a:t>
            </a:r>
            <a:br>
              <a:rPr lang="de-CH" sz="2000" dirty="0"/>
            </a:br>
            <a:r>
              <a:rPr lang="de-CH" sz="2000" dirty="0"/>
              <a:t>Adressen</a:t>
            </a:r>
          </a:p>
        </p:txBody>
      </p:sp>
      <p:sp>
        <p:nvSpPr>
          <p:cNvPr id="19" name="Rechteck 18">
            <a:extLst>
              <a:ext uri="{FF2B5EF4-FFF2-40B4-BE49-F238E27FC236}">
                <a16:creationId xmlns:a16="http://schemas.microsoft.com/office/drawing/2014/main" id="{CA5F7B68-BAE6-480E-83E8-D67026095EA9}"/>
              </a:ext>
            </a:extLst>
          </p:cNvPr>
          <p:cNvSpPr/>
          <p:nvPr/>
        </p:nvSpPr>
        <p:spPr>
          <a:xfrm>
            <a:off x="7454900" y="5597528"/>
            <a:ext cx="1181100" cy="641349"/>
          </a:xfrm>
          <a:prstGeom prst="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CH" sz="2000"/>
              <a:t>IP</a:t>
            </a:r>
            <a:br>
              <a:rPr lang="de-CH" sz="2000"/>
            </a:br>
            <a:r>
              <a:rPr lang="de-CH" sz="2000"/>
              <a:t>Adressen</a:t>
            </a:r>
          </a:p>
        </p:txBody>
      </p:sp>
      <p:sp>
        <p:nvSpPr>
          <p:cNvPr id="20" name="Rechteck 19">
            <a:extLst>
              <a:ext uri="{FF2B5EF4-FFF2-40B4-BE49-F238E27FC236}">
                <a16:creationId xmlns:a16="http://schemas.microsoft.com/office/drawing/2014/main" id="{65351C84-9D31-493F-A25F-22C987A96818}"/>
              </a:ext>
            </a:extLst>
          </p:cNvPr>
          <p:cNvSpPr/>
          <p:nvPr/>
        </p:nvSpPr>
        <p:spPr>
          <a:xfrm>
            <a:off x="6273800" y="5597528"/>
            <a:ext cx="1181100" cy="641349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CH" sz="2000" dirty="0"/>
              <a:t>MAC</a:t>
            </a:r>
            <a:br>
              <a:rPr lang="de-CH" sz="2000" dirty="0"/>
            </a:br>
            <a:r>
              <a:rPr lang="de-CH" sz="2000" dirty="0"/>
              <a:t>Adressen</a:t>
            </a:r>
          </a:p>
        </p:txBody>
      </p:sp>
      <p:sp>
        <p:nvSpPr>
          <p:cNvPr id="23" name="Textfeld 22">
            <a:extLst>
              <a:ext uri="{FF2B5EF4-FFF2-40B4-BE49-F238E27FC236}">
                <a16:creationId xmlns:a16="http://schemas.microsoft.com/office/drawing/2014/main" id="{4F1C8624-E8B2-49EB-814D-D7C7ABBB2991}"/>
              </a:ext>
            </a:extLst>
          </p:cNvPr>
          <p:cNvSpPr txBox="1"/>
          <p:nvPr/>
        </p:nvSpPr>
        <p:spPr>
          <a:xfrm>
            <a:off x="4597400" y="2481817"/>
            <a:ext cx="406226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CH"/>
              <a:t>Web (HTTP, HTTPS), E-Mail (IMAP, SMTP),</a:t>
            </a:r>
            <a:br>
              <a:rPr lang="de-CH"/>
            </a:br>
            <a:r>
              <a:rPr lang="de-CH"/>
              <a:t>Namensauflösung (DNS), …</a:t>
            </a:r>
          </a:p>
        </p:txBody>
      </p:sp>
      <p:sp>
        <p:nvSpPr>
          <p:cNvPr id="24" name="Textfeld 23">
            <a:extLst>
              <a:ext uri="{FF2B5EF4-FFF2-40B4-BE49-F238E27FC236}">
                <a16:creationId xmlns:a16="http://schemas.microsoft.com/office/drawing/2014/main" id="{8375E3F6-6C02-4AA9-8274-224A35C27193}"/>
              </a:ext>
            </a:extLst>
          </p:cNvPr>
          <p:cNvSpPr txBox="1"/>
          <p:nvPr/>
        </p:nvSpPr>
        <p:spPr>
          <a:xfrm>
            <a:off x="4597399" y="3504168"/>
            <a:ext cx="38849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CH"/>
              <a:t>Übertragungssteuerungsprotokoll (TCP)</a:t>
            </a:r>
          </a:p>
        </p:txBody>
      </p:sp>
      <p:sp>
        <p:nvSpPr>
          <p:cNvPr id="25" name="Textfeld 24">
            <a:extLst>
              <a:ext uri="{FF2B5EF4-FFF2-40B4-BE49-F238E27FC236}">
                <a16:creationId xmlns:a16="http://schemas.microsoft.com/office/drawing/2014/main" id="{ED96C823-C82C-4C29-8B33-8CF04359D3A5}"/>
              </a:ext>
            </a:extLst>
          </p:cNvPr>
          <p:cNvSpPr txBox="1"/>
          <p:nvPr/>
        </p:nvSpPr>
        <p:spPr>
          <a:xfrm>
            <a:off x="4597398" y="4520686"/>
            <a:ext cx="215603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CH"/>
              <a:t>Internetprotokoll (IP)</a:t>
            </a:r>
          </a:p>
        </p:txBody>
      </p:sp>
      <p:sp>
        <p:nvSpPr>
          <p:cNvPr id="26" name="Textfeld 25">
            <a:extLst>
              <a:ext uri="{FF2B5EF4-FFF2-40B4-BE49-F238E27FC236}">
                <a16:creationId xmlns:a16="http://schemas.microsoft.com/office/drawing/2014/main" id="{AF6DF1C7-D2BA-42CE-BA33-91D8DA63DCB8}"/>
              </a:ext>
            </a:extLst>
          </p:cNvPr>
          <p:cNvSpPr txBox="1"/>
          <p:nvPr/>
        </p:nvSpPr>
        <p:spPr>
          <a:xfrm>
            <a:off x="4597398" y="5548870"/>
            <a:ext cx="16971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CH"/>
              <a:t>WLAN, Ethernet</a:t>
            </a:r>
          </a:p>
        </p:txBody>
      </p:sp>
    </p:spTree>
    <p:extLst>
      <p:ext uri="{BB962C8B-B14F-4D97-AF65-F5344CB8AC3E}">
        <p14:creationId xmlns:p14="http://schemas.microsoft.com/office/powerpoint/2010/main" val="18479209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9" grpId="0" animBg="1"/>
      <p:bldP spid="20" grpId="0" animBg="1"/>
      <p:bldP spid="23" grpId="0"/>
      <p:bldP spid="24" grpId="0"/>
      <p:bldP spid="25" grpId="0"/>
      <p:bldP spid="26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1E34323-C837-4FE6-822F-4ED354D6F0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CH"/>
              <a:t>Schichtenmodell, Protokolle und Ports</a:t>
            </a:r>
          </a:p>
        </p:txBody>
      </p:sp>
      <p:pic>
        <p:nvPicPr>
          <p:cNvPr id="4" name="Grafik 3">
            <a:extLst>
              <a:ext uri="{FF2B5EF4-FFF2-40B4-BE49-F238E27FC236}">
                <a16:creationId xmlns:a16="http://schemas.microsoft.com/office/drawing/2014/main" id="{5019BEB6-E3D3-405B-8448-DCE3AC1853E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13279" y="4156460"/>
            <a:ext cx="3120000" cy="2340000"/>
          </a:xfrm>
          <a:prstGeom prst="rect">
            <a:avLst/>
          </a:prstGeom>
        </p:spPr>
      </p:pic>
      <p:pic>
        <p:nvPicPr>
          <p:cNvPr id="6" name="Grafik 5">
            <a:extLst>
              <a:ext uri="{FF2B5EF4-FFF2-40B4-BE49-F238E27FC236}">
                <a16:creationId xmlns:a16="http://schemas.microsoft.com/office/drawing/2014/main" id="{1F74F5DE-B80D-4004-A336-546EFD27937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13279" y="1526961"/>
            <a:ext cx="3120000" cy="2340000"/>
          </a:xfrm>
          <a:prstGeom prst="rect">
            <a:avLst/>
          </a:prstGeom>
        </p:spPr>
      </p:pic>
      <p:sp>
        <p:nvSpPr>
          <p:cNvPr id="7" name="Rechteck 6">
            <a:extLst>
              <a:ext uri="{FF2B5EF4-FFF2-40B4-BE49-F238E27FC236}">
                <a16:creationId xmlns:a16="http://schemas.microsoft.com/office/drawing/2014/main" id="{29752F5B-1566-4164-A444-7364C36DD13C}"/>
              </a:ext>
            </a:extLst>
          </p:cNvPr>
          <p:cNvSpPr/>
          <p:nvPr/>
        </p:nvSpPr>
        <p:spPr>
          <a:xfrm>
            <a:off x="8016915" y="1690688"/>
            <a:ext cx="3390900" cy="1028700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CH" sz="2400"/>
              <a:t>Anwendungsschicht</a:t>
            </a:r>
          </a:p>
        </p:txBody>
      </p:sp>
      <p:sp>
        <p:nvSpPr>
          <p:cNvPr id="8" name="Rechteck 7">
            <a:extLst>
              <a:ext uri="{FF2B5EF4-FFF2-40B4-BE49-F238E27FC236}">
                <a16:creationId xmlns:a16="http://schemas.microsoft.com/office/drawing/2014/main" id="{12FF69D9-0918-44B3-A524-C4D1DE10B7EC}"/>
              </a:ext>
            </a:extLst>
          </p:cNvPr>
          <p:cNvSpPr/>
          <p:nvPr/>
        </p:nvSpPr>
        <p:spPr>
          <a:xfrm>
            <a:off x="8016915" y="2713039"/>
            <a:ext cx="3390900" cy="1028700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CH" sz="2400"/>
              <a:t>Transportschicht</a:t>
            </a:r>
          </a:p>
        </p:txBody>
      </p:sp>
      <p:sp>
        <p:nvSpPr>
          <p:cNvPr id="9" name="Rechteck 8">
            <a:extLst>
              <a:ext uri="{FF2B5EF4-FFF2-40B4-BE49-F238E27FC236}">
                <a16:creationId xmlns:a16="http://schemas.microsoft.com/office/drawing/2014/main" id="{21C5E231-3EC3-4E87-9305-7F05461538CC}"/>
              </a:ext>
            </a:extLst>
          </p:cNvPr>
          <p:cNvSpPr/>
          <p:nvPr/>
        </p:nvSpPr>
        <p:spPr>
          <a:xfrm>
            <a:off x="8016915" y="4333045"/>
            <a:ext cx="3390900" cy="1028700"/>
          </a:xfrm>
          <a:prstGeom prst="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CH" sz="2400"/>
              <a:t>Vermittlungsschicht</a:t>
            </a:r>
          </a:p>
        </p:txBody>
      </p:sp>
      <p:sp>
        <p:nvSpPr>
          <p:cNvPr id="10" name="Rechteck 9">
            <a:extLst>
              <a:ext uri="{FF2B5EF4-FFF2-40B4-BE49-F238E27FC236}">
                <a16:creationId xmlns:a16="http://schemas.microsoft.com/office/drawing/2014/main" id="{8DDD2036-8030-4B4C-B47C-BAAEF7863544}"/>
              </a:ext>
            </a:extLst>
          </p:cNvPr>
          <p:cNvSpPr/>
          <p:nvPr/>
        </p:nvSpPr>
        <p:spPr>
          <a:xfrm>
            <a:off x="8016915" y="5355396"/>
            <a:ext cx="3390900" cy="1028700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CH" sz="2400"/>
              <a:t>Physikalische Schicht</a:t>
            </a:r>
          </a:p>
        </p:txBody>
      </p:sp>
      <p:sp>
        <p:nvSpPr>
          <p:cNvPr id="11" name="Textfeld 10">
            <a:extLst>
              <a:ext uri="{FF2B5EF4-FFF2-40B4-BE49-F238E27FC236}">
                <a16:creationId xmlns:a16="http://schemas.microsoft.com/office/drawing/2014/main" id="{4D35320F-3CBE-46EC-885C-432F88FB3AF5}"/>
              </a:ext>
            </a:extLst>
          </p:cNvPr>
          <p:cNvSpPr txBox="1"/>
          <p:nvPr/>
        </p:nvSpPr>
        <p:spPr>
          <a:xfrm>
            <a:off x="4461580" y="5685080"/>
            <a:ext cx="16375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CH"/>
              <a:t>Strasse/Trottoir</a:t>
            </a:r>
          </a:p>
        </p:txBody>
      </p:sp>
      <p:sp>
        <p:nvSpPr>
          <p:cNvPr id="12" name="Textfeld 11">
            <a:extLst>
              <a:ext uri="{FF2B5EF4-FFF2-40B4-BE49-F238E27FC236}">
                <a16:creationId xmlns:a16="http://schemas.microsoft.com/office/drawing/2014/main" id="{7FB550CA-9ADA-463C-8498-3D299F8AEE6A}"/>
              </a:ext>
            </a:extLst>
          </p:cNvPr>
          <p:cNvSpPr txBox="1"/>
          <p:nvPr/>
        </p:nvSpPr>
        <p:spPr>
          <a:xfrm>
            <a:off x="4461580" y="4662729"/>
            <a:ext cx="92704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CH"/>
              <a:t>Adresse</a:t>
            </a:r>
          </a:p>
        </p:txBody>
      </p:sp>
      <p:sp>
        <p:nvSpPr>
          <p:cNvPr id="13" name="Textfeld 12">
            <a:extLst>
              <a:ext uri="{FF2B5EF4-FFF2-40B4-BE49-F238E27FC236}">
                <a16:creationId xmlns:a16="http://schemas.microsoft.com/office/drawing/2014/main" id="{45D714CB-116C-407B-95D5-61DB1A743EE5}"/>
              </a:ext>
            </a:extLst>
          </p:cNvPr>
          <p:cNvSpPr txBox="1"/>
          <p:nvPr/>
        </p:nvSpPr>
        <p:spPr>
          <a:xfrm>
            <a:off x="6529101" y="5685080"/>
            <a:ext cx="12394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de-CH"/>
              <a:t>LAN/WLAN</a:t>
            </a:r>
          </a:p>
        </p:txBody>
      </p:sp>
      <p:sp>
        <p:nvSpPr>
          <p:cNvPr id="14" name="Textfeld 13">
            <a:extLst>
              <a:ext uri="{FF2B5EF4-FFF2-40B4-BE49-F238E27FC236}">
                <a16:creationId xmlns:a16="http://schemas.microsoft.com/office/drawing/2014/main" id="{C3B64951-3867-4570-A048-592836B49C24}"/>
              </a:ext>
            </a:extLst>
          </p:cNvPr>
          <p:cNvSpPr txBox="1"/>
          <p:nvPr/>
        </p:nvSpPr>
        <p:spPr>
          <a:xfrm>
            <a:off x="6594632" y="4664681"/>
            <a:ext cx="11739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de-CH"/>
              <a:t>IP-Adresse</a:t>
            </a:r>
          </a:p>
        </p:txBody>
      </p:sp>
      <p:sp>
        <p:nvSpPr>
          <p:cNvPr id="15" name="Textfeld 14">
            <a:extLst>
              <a:ext uri="{FF2B5EF4-FFF2-40B4-BE49-F238E27FC236}">
                <a16:creationId xmlns:a16="http://schemas.microsoft.com/office/drawing/2014/main" id="{6357EE0D-138B-4F3F-9164-D60B7967CCA9}"/>
              </a:ext>
            </a:extLst>
          </p:cNvPr>
          <p:cNvSpPr txBox="1"/>
          <p:nvPr/>
        </p:nvSpPr>
        <p:spPr>
          <a:xfrm>
            <a:off x="4460708" y="3059668"/>
            <a:ext cx="195438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CH"/>
              <a:t>«Zimmernummer»</a:t>
            </a:r>
            <a:br>
              <a:rPr lang="de-CH"/>
            </a:br>
            <a:r>
              <a:rPr lang="de-CH"/>
              <a:t>(Geschäft)</a:t>
            </a:r>
          </a:p>
        </p:txBody>
      </p:sp>
      <p:sp>
        <p:nvSpPr>
          <p:cNvPr id="16" name="Textfeld 15">
            <a:extLst>
              <a:ext uri="{FF2B5EF4-FFF2-40B4-BE49-F238E27FC236}">
                <a16:creationId xmlns:a16="http://schemas.microsoft.com/office/drawing/2014/main" id="{91D75230-69CF-4E78-8273-FBC57B3D5D5D}"/>
              </a:ext>
            </a:extLst>
          </p:cNvPr>
          <p:cNvSpPr txBox="1"/>
          <p:nvPr/>
        </p:nvSpPr>
        <p:spPr>
          <a:xfrm>
            <a:off x="7190078" y="3061620"/>
            <a:ext cx="5775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de-CH"/>
              <a:t>Port</a:t>
            </a:r>
          </a:p>
        </p:txBody>
      </p:sp>
      <p:sp>
        <p:nvSpPr>
          <p:cNvPr id="17" name="Textfeld 16">
            <a:extLst>
              <a:ext uri="{FF2B5EF4-FFF2-40B4-BE49-F238E27FC236}">
                <a16:creationId xmlns:a16="http://schemas.microsoft.com/office/drawing/2014/main" id="{FEA81A3C-65C4-4AE8-B65E-7E0871A5237D}"/>
              </a:ext>
            </a:extLst>
          </p:cNvPr>
          <p:cNvSpPr txBox="1"/>
          <p:nvPr/>
        </p:nvSpPr>
        <p:spPr>
          <a:xfrm>
            <a:off x="4460708" y="1868201"/>
            <a:ext cx="183492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CH"/>
              <a:t>Kleider/Drogerie/</a:t>
            </a:r>
            <a:br>
              <a:rPr lang="de-CH"/>
            </a:br>
            <a:r>
              <a:rPr lang="de-CH"/>
              <a:t>Restaurant</a:t>
            </a:r>
          </a:p>
        </p:txBody>
      </p:sp>
      <p:sp>
        <p:nvSpPr>
          <p:cNvPr id="18" name="Textfeld 17">
            <a:extLst>
              <a:ext uri="{FF2B5EF4-FFF2-40B4-BE49-F238E27FC236}">
                <a16:creationId xmlns:a16="http://schemas.microsoft.com/office/drawing/2014/main" id="{1C560470-C6EA-443B-8813-1365014869D6}"/>
              </a:ext>
            </a:extLst>
          </p:cNvPr>
          <p:cNvSpPr txBox="1"/>
          <p:nvPr/>
        </p:nvSpPr>
        <p:spPr>
          <a:xfrm>
            <a:off x="6527653" y="1870153"/>
            <a:ext cx="124001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de-CH"/>
              <a:t>DNS/HTTP/</a:t>
            </a:r>
            <a:br>
              <a:rPr lang="de-CH"/>
            </a:br>
            <a:r>
              <a:rPr lang="de-CH"/>
              <a:t>E-Mail</a:t>
            </a:r>
          </a:p>
        </p:txBody>
      </p:sp>
    </p:spTree>
    <p:extLst>
      <p:ext uri="{BB962C8B-B14F-4D97-AF65-F5344CB8AC3E}">
        <p14:creationId xmlns:p14="http://schemas.microsoft.com/office/powerpoint/2010/main" val="30543822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2" grpId="0"/>
      <p:bldP spid="13" grpId="0"/>
      <p:bldP spid="14" grpId="0"/>
      <p:bldP spid="15" grpId="0"/>
      <p:bldP spid="16" grpId="0"/>
      <p:bldP spid="17" grpId="0"/>
      <p:bldP spid="18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B31532A-2E9B-4C93-AB59-809E2220D3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CH"/>
              <a:t>Protokolle in der Anwendungsschicht (</a:t>
            </a:r>
            <a:r>
              <a:rPr lang="de-CH" err="1"/>
              <a:t>Bsp</a:t>
            </a:r>
            <a:r>
              <a:rPr lang="de-CH"/>
              <a:t>)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7410CCE9-BC77-4369-A81C-963C289D09D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tabLst>
                <a:tab pos="2690813" algn="l"/>
              </a:tabLst>
            </a:pPr>
            <a:r>
              <a:rPr lang="de-CH"/>
              <a:t>DNS	Domain Name System</a:t>
            </a:r>
            <a:br>
              <a:rPr lang="de-CH"/>
            </a:br>
            <a:r>
              <a:rPr lang="de-CH"/>
              <a:t>	Namensauflösung (Hostname </a:t>
            </a:r>
            <a:r>
              <a:rPr lang="de-CH">
                <a:latin typeface="Arial" panose="020B0604020202020204" pitchFamily="34" charset="0"/>
                <a:cs typeface="Arial" panose="020B0604020202020204" pitchFamily="34" charset="0"/>
              </a:rPr>
              <a:t>↔</a:t>
            </a:r>
            <a:r>
              <a:rPr lang="de-CH"/>
              <a:t> IP)</a:t>
            </a:r>
          </a:p>
          <a:p>
            <a:pPr>
              <a:tabLst>
                <a:tab pos="2690813" algn="l"/>
              </a:tabLst>
            </a:pPr>
            <a:r>
              <a:rPr lang="de-CH"/>
              <a:t>HTTP/S	</a:t>
            </a:r>
            <a:r>
              <a:rPr lang="de-CH" err="1"/>
              <a:t>HyperText</a:t>
            </a:r>
            <a:r>
              <a:rPr lang="de-CH"/>
              <a:t> Transfer Protocol (Secure)</a:t>
            </a:r>
            <a:br>
              <a:rPr lang="de-CH"/>
            </a:br>
            <a:r>
              <a:rPr lang="de-CH"/>
              <a:t>	Webseiten abrufen</a:t>
            </a:r>
          </a:p>
          <a:p>
            <a:pPr>
              <a:tabLst>
                <a:tab pos="2690813" algn="l"/>
              </a:tabLst>
            </a:pPr>
            <a:r>
              <a:rPr lang="de-CH"/>
              <a:t>SMTP/S	Simple Mail Transfer Protocol (Secure)</a:t>
            </a:r>
            <a:br>
              <a:rPr lang="de-CH"/>
            </a:br>
            <a:r>
              <a:rPr lang="de-CH"/>
              <a:t>	E-Mails verschicken</a:t>
            </a:r>
          </a:p>
          <a:p>
            <a:pPr>
              <a:tabLst>
                <a:tab pos="2690813" algn="l"/>
              </a:tabLst>
            </a:pPr>
            <a:r>
              <a:rPr lang="de-CH"/>
              <a:t>IMAP/S	Internet Message Access Protocol (Secure)</a:t>
            </a:r>
            <a:br>
              <a:rPr lang="de-CH"/>
            </a:br>
            <a:r>
              <a:rPr lang="de-CH"/>
              <a:t>	Mailbox abrufen</a:t>
            </a:r>
          </a:p>
        </p:txBody>
      </p:sp>
    </p:spTree>
    <p:extLst>
      <p:ext uri="{BB962C8B-B14F-4D97-AF65-F5344CB8AC3E}">
        <p14:creationId xmlns:p14="http://schemas.microsoft.com/office/powerpoint/2010/main" val="13717453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E06CAC5-B541-4EDD-9281-0158B23AEE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CH"/>
              <a:t>Was geschieht beim Webseiten-Aufruf?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C8FBF9EF-89D6-4F56-B5CE-65B80C93924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514350" indent="-514350">
              <a:buFont typeface="+mj-lt"/>
              <a:buAutoNum type="arabicPeriod"/>
              <a:tabLst>
                <a:tab pos="3859213" algn="l"/>
              </a:tabLst>
            </a:pPr>
            <a:r>
              <a:rPr lang="de-CH" dirty="0"/>
              <a:t>An den DNS-Server:	«Welche IP gehört zu 	www.gymkirchenfeld.ch?»</a:t>
            </a:r>
            <a:br>
              <a:rPr lang="de-CH" dirty="0"/>
            </a:br>
            <a:r>
              <a:rPr lang="de-CH" dirty="0"/>
              <a:t>DNS-Server:	«82.197.176.117»</a:t>
            </a:r>
          </a:p>
          <a:p>
            <a:pPr marL="514350" indent="-514350">
              <a:buFont typeface="+mj-lt"/>
              <a:buAutoNum type="arabicPeriod"/>
              <a:tabLst>
                <a:tab pos="3859213" algn="l"/>
              </a:tabLst>
            </a:pPr>
            <a:r>
              <a:rPr lang="de-CH" dirty="0"/>
              <a:t>Eigener PC:	«Ist die IP in meinem Netzwerk?» -</a:t>
            </a:r>
            <a:br>
              <a:rPr lang="de-CH" dirty="0"/>
            </a:br>
            <a:r>
              <a:rPr lang="de-CH" dirty="0"/>
              <a:t>	«Nein, sie ist ausserhalb.»</a:t>
            </a:r>
          </a:p>
          <a:p>
            <a:pPr marL="514350" indent="-514350">
              <a:buFont typeface="+mj-lt"/>
              <a:buAutoNum type="arabicPeriod"/>
              <a:tabLst>
                <a:tab pos="3859213" algn="l"/>
              </a:tabLst>
            </a:pPr>
            <a:r>
              <a:rPr lang="de-CH" dirty="0"/>
              <a:t>An den Router:	«Schicke bitte dieses Paket an die IP </a:t>
            </a:r>
            <a:r>
              <a:rPr lang="de-CH"/>
              <a:t>	82.197.176.117.»</a:t>
            </a:r>
            <a:br>
              <a:rPr lang="de-CH" dirty="0"/>
            </a:br>
            <a:r>
              <a:rPr lang="de-CH" dirty="0"/>
              <a:t>Inhalt des Pakets:	«Ich möchte gerne die Seite 	www.gymkirchenfeld.ch.»</a:t>
            </a:r>
          </a:p>
          <a:p>
            <a:pPr marL="514350" indent="-514350">
              <a:buFont typeface="+mj-lt"/>
              <a:buAutoNum type="arabicPeriod"/>
              <a:tabLst>
                <a:tab pos="3859213" algn="l"/>
              </a:tabLst>
            </a:pPr>
            <a:r>
              <a:rPr lang="de-CH" dirty="0"/>
              <a:t>Antwort via Router:	Webseiten-Inhalt</a:t>
            </a:r>
          </a:p>
          <a:p>
            <a:pPr marL="514350" indent="-514350">
              <a:buFont typeface="+mj-lt"/>
              <a:buAutoNum type="arabicPeriod"/>
              <a:tabLst>
                <a:tab pos="3409950" algn="l"/>
              </a:tabLst>
            </a:pPr>
            <a:endParaRPr lang="de-CH" dirty="0"/>
          </a:p>
        </p:txBody>
      </p:sp>
    </p:spTree>
    <p:extLst>
      <p:ext uri="{BB962C8B-B14F-4D97-AF65-F5344CB8AC3E}">
        <p14:creationId xmlns:p14="http://schemas.microsoft.com/office/powerpoint/2010/main" val="23472308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theme/theme1.xml><?xml version="1.0" encoding="utf-8"?>
<a:theme xmlns:a="http://schemas.openxmlformats.org/drawingml/2006/main" name="kinet">
  <a:themeElements>
    <a:clrScheme name="gymkirchenfeld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666666"/>
      </a:accent1>
      <a:accent2>
        <a:srgbClr val="3248B5"/>
      </a:accent2>
      <a:accent3>
        <a:srgbClr val="41A7D1"/>
      </a:accent3>
      <a:accent4>
        <a:srgbClr val="74BF3D"/>
      </a:accent4>
      <a:accent5>
        <a:srgbClr val="FBA300"/>
      </a:accent5>
      <a:accent6>
        <a:srgbClr val="E8CC00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kinet" id="{EF483BFC-D895-4E45-826B-CFA4A4B447FB}" vid="{361AE8B0-6FD3-4BC5-969C-C3DAFE52FD27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kinet</Template>
  <TotalTime>0</TotalTime>
  <Words>507</Words>
  <Application>Microsoft Office PowerPoint</Application>
  <PresentationFormat>Breitbild</PresentationFormat>
  <Paragraphs>92</Paragraphs>
  <Slides>10</Slides>
  <Notes>1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10</vt:i4>
      </vt:variant>
    </vt:vector>
  </HeadingPairs>
  <TitlesOfParts>
    <vt:vector size="14" baseType="lpstr">
      <vt:lpstr>Arial</vt:lpstr>
      <vt:lpstr>Arimo</vt:lpstr>
      <vt:lpstr>Calibri</vt:lpstr>
      <vt:lpstr>kinet</vt:lpstr>
      <vt:lpstr>Protokolle</vt:lpstr>
      <vt:lpstr>Was ist ein Netzwerkprotokoll?</vt:lpstr>
      <vt:lpstr>Protokolle bei uns Menschen</vt:lpstr>
      <vt:lpstr>Protokolle bei uns Menschen</vt:lpstr>
      <vt:lpstr>Protokoll bei uns Menschen</vt:lpstr>
      <vt:lpstr>PowerPoint-Präsentation</vt:lpstr>
      <vt:lpstr>Schichtenmodell und Protokolle</vt:lpstr>
      <vt:lpstr>Schichtenmodell, Protokolle und Ports</vt:lpstr>
      <vt:lpstr>Protokolle in der Anwendungsschicht (Bsp)</vt:lpstr>
      <vt:lpstr>Was geschieht beim Webseiten-Aufruf?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Protokolle</dc:title>
  <dc:creator>Jampen Thomas</dc:creator>
  <cp:lastModifiedBy>Jampen Thomas</cp:lastModifiedBy>
  <cp:revision>2</cp:revision>
  <dcterms:created xsi:type="dcterms:W3CDTF">2021-08-07T15:14:31Z</dcterms:created>
  <dcterms:modified xsi:type="dcterms:W3CDTF">2022-08-15T04:52:14Z</dcterms:modified>
</cp:coreProperties>
</file>